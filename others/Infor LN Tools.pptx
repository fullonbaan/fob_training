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7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1412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463040"/>
            <a:ext cx="73152" cy="36804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0" y="1645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FullonBaan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0" y="47548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 LN Training &amp; Consulting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822960"/>
            <a:ext cx="2340864" cy="256032"/>
          </a:xfrm>
          <a:prstGeom prst="rect">
            <a:avLst/>
          </a:prstGeom>
          <a:solidFill>
            <a:srgbClr val="8A6E30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22960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0EAD6"/>
                </a:solidFill>
              </a:rPr>
              <a:t>TECHNICAL FOUNDATION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0040" y="1600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A898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 of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20040" y="2212848"/>
            <a:ext cx="8503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0EA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Baan ERP</a:t>
            </a:r>
            <a:endParaRPr lang="en-US" sz="5800" dirty="0"/>
          </a:p>
        </p:txBody>
      </p:sp>
      <p:sp>
        <p:nvSpPr>
          <p:cNvPr id="11" name="Text 9"/>
          <p:cNvSpPr/>
          <p:nvPr/>
        </p:nvSpPr>
        <p:spPr>
          <a:xfrm>
            <a:off x="320040" y="33375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Packages, Domains, Sessions, Forms, Reports, DAL &amp; SQL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3264408"/>
            <a:ext cx="5029200" cy="36576"/>
          </a:xfrm>
          <a:prstGeom prst="rect">
            <a:avLst/>
          </a:prstGeom>
          <a:solidFill>
            <a:srgbClr val="8A6E30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C1A1E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4837176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A6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www.fullonbaan.com  ·  fullonbaan@gmail.com  ·  +91 63605 93122</a:t>
            </a:r>
            <a:endParaRPr lang="en-US" sz="85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6675120" y="1645920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64592"/>
            <a:ext cx="1463040" cy="256032"/>
          </a:xfrm>
          <a:prstGeom prst="rect">
            <a:avLst/>
          </a:prstGeom>
          <a:solidFill>
            <a:srgbClr val="8A6E30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0EAD6"/>
                </a:solidFill>
              </a:rPr>
              <a:t>AGENDA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EA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 of Baan ERP — Session Contents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16152"/>
            <a:ext cx="8321040" cy="0"/>
          </a:xfrm>
          <a:prstGeom prst="line">
            <a:avLst/>
          </a:prstGeom>
          <a:noFill/>
          <a:ln w="10160">
            <a:solidFill>
              <a:srgbClr val="8A6E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C1A1E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496519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FullonBaan · Infor LN Training &amp; Consulting · www.fullonbaan.com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383280" y="4965192"/>
            <a:ext cx="5440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6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Baan ERP — Architecture &amp; Technical Concepts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11480" y="1298448"/>
            <a:ext cx="4160520" cy="475488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298448"/>
            <a:ext cx="54864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298448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6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87552" y="1389888"/>
            <a:ext cx="0" cy="292608"/>
          </a:xfrm>
          <a:prstGeom prst="line">
            <a:avLst/>
          </a:prstGeom>
          <a:noFill/>
          <a:ln w="6350">
            <a:solidFill>
              <a:srgbClr val="8A6E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06424" y="1353312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106424" y="1554480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toolset: Foundation, Customization and Development packages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11480" y="1828800"/>
            <a:ext cx="4160520" cy="475488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1828800"/>
            <a:ext cx="54864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1828800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6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87552" y="1920240"/>
            <a:ext cx="0" cy="292608"/>
          </a:xfrm>
          <a:prstGeom prst="line">
            <a:avLst/>
          </a:prstGeom>
          <a:noFill/>
          <a:ln w="6350">
            <a:solidFill>
              <a:srgbClr val="8A6E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06424" y="1883664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VRC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06424" y="2084832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environments, version/release/customer, company concept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11480" y="2359152"/>
            <a:ext cx="4160520" cy="475488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2359152"/>
            <a:ext cx="54864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23591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6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87552" y="2450592"/>
            <a:ext cx="0" cy="292608"/>
          </a:xfrm>
          <a:prstGeom prst="line">
            <a:avLst/>
          </a:prstGeom>
          <a:noFill/>
          <a:ln w="6350">
            <a:solidFill>
              <a:srgbClr val="8A6E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06424" y="2414016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 &amp; Tables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106424" y="2615184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types, domains, table definitions, field relations and indices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11480" y="2889504"/>
            <a:ext cx="4160520" cy="475488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11480" y="2889504"/>
            <a:ext cx="54864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288950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6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87552" y="2980944"/>
            <a:ext cx="0" cy="292608"/>
          </a:xfrm>
          <a:prstGeom prst="line">
            <a:avLst/>
          </a:prstGeom>
          <a:noFill/>
          <a:ln w="6350">
            <a:solidFill>
              <a:srgbClr val="8A6E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06424" y="2944368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Authorization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106424" y="3145536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users, roles, session and table authorization levels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11480" y="3419856"/>
            <a:ext cx="4160520" cy="475488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11480" y="3419856"/>
            <a:ext cx="54864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3419856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6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987552" y="3511296"/>
            <a:ext cx="0" cy="292608"/>
          </a:xfrm>
          <a:prstGeom prst="line">
            <a:avLst/>
          </a:prstGeom>
          <a:noFill/>
          <a:ln w="6350">
            <a:solidFill>
              <a:srgbClr val="8A6E3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06424" y="3474720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106424" y="3675888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types, window types, coding conventions and generator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11480" y="3950208"/>
            <a:ext cx="4160520" cy="475488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11480" y="3950208"/>
            <a:ext cx="54864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3950208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6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987552" y="4041648"/>
            <a:ext cx="0" cy="292608"/>
          </a:xfrm>
          <a:prstGeom prst="line">
            <a:avLst/>
          </a:prstGeom>
          <a:noFill/>
          <a:ln w="6350">
            <a:solidFill>
              <a:srgbClr val="8A6E3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06424" y="4005072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&amp; Reports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106424" y="4206240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Form Editor, report layouts and report script sections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11480" y="4480560"/>
            <a:ext cx="4160520" cy="475488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11480" y="4480560"/>
            <a:ext cx="54864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4480560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6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987552" y="4572000"/>
            <a:ext cx="0" cy="292608"/>
          </a:xfrm>
          <a:prstGeom prst="line">
            <a:avLst/>
          </a:prstGeom>
          <a:noFill/>
          <a:ln w="6350">
            <a:solidFill>
              <a:srgbClr val="8A6E3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106424" y="4535424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Scripts (4GL)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1106424" y="4736592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Baan 4GL — language structure, constructs, sections and coding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754880" y="1298448"/>
            <a:ext cx="4160520" cy="475488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754880" y="1298448"/>
            <a:ext cx="54864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46320" y="1298448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6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5330952" y="1389888"/>
            <a:ext cx="0" cy="292608"/>
          </a:xfrm>
          <a:prstGeom prst="line">
            <a:avLst/>
          </a:prstGeom>
          <a:noFill/>
          <a:ln w="6350">
            <a:solidFill>
              <a:srgbClr val="8A6E3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49824" y="1353312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Constants &amp; Fns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5449824" y="1554480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Predefined variables, 3GL/4GL functions and user-defined functions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754880" y="1828800"/>
            <a:ext cx="4160520" cy="475488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754880" y="1828800"/>
            <a:ext cx="54864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46320" y="1828800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6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5330952" y="1920240"/>
            <a:ext cx="0" cy="292608"/>
          </a:xfrm>
          <a:prstGeom prst="line">
            <a:avLst/>
          </a:prstGeom>
          <a:noFill/>
          <a:ln w="6350">
            <a:solidFill>
              <a:srgbClr val="8A6E3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49824" y="1883664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Sections Deep Dive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5449824" y="2084832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Program, Form, Group, Choice and Field sections with examples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754880" y="2359152"/>
            <a:ext cx="4160520" cy="475488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4754880" y="2359152"/>
            <a:ext cx="54864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846320" y="23591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6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5330952" y="2450592"/>
            <a:ext cx="0" cy="292608"/>
          </a:xfrm>
          <a:prstGeom prst="line">
            <a:avLst/>
          </a:prstGeom>
          <a:noFill/>
          <a:ln w="6350">
            <a:solidFill>
              <a:srgbClr val="8A6E3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449824" y="2414016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— Types &amp; Operators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5449824" y="2615184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SQL, Embedded SQL, Dynamic SQL and WHERE operators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754880" y="2889504"/>
            <a:ext cx="4160520" cy="475488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4754880" y="2889504"/>
            <a:ext cx="54864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846320" y="288950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6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5330952" y="2980944"/>
            <a:ext cx="0" cy="292608"/>
          </a:xfrm>
          <a:prstGeom prst="line">
            <a:avLst/>
          </a:prstGeom>
          <a:noFill/>
          <a:ln w="6350">
            <a:solidFill>
              <a:srgbClr val="8A6E3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449824" y="2944368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Transactions &amp; Locking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5449824" y="3145536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SELECTDO loop, transactions, locking, retry point, query extensions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4754880" y="3419856"/>
            <a:ext cx="4160520" cy="475488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4754880" y="3419856"/>
            <a:ext cx="54864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846320" y="3419856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6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400" dirty="0"/>
          </a:p>
        </p:txBody>
      </p:sp>
      <p:sp>
        <p:nvSpPr>
          <p:cNvPr id="79" name="Shape 77"/>
          <p:cNvSpPr/>
          <p:nvPr/>
        </p:nvSpPr>
        <p:spPr>
          <a:xfrm>
            <a:off x="5330952" y="3511296"/>
            <a:ext cx="0" cy="292608"/>
          </a:xfrm>
          <a:prstGeom prst="line">
            <a:avLst/>
          </a:prstGeom>
          <a:noFill/>
          <a:ln w="6350">
            <a:solidFill>
              <a:srgbClr val="8A6E3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449824" y="3474720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Layer (DAL)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5449824" y="3675888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data layer — hooks, property methods and examples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4754880" y="3950208"/>
            <a:ext cx="4160520" cy="475488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4754880" y="3950208"/>
            <a:ext cx="54864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846320" y="3950208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6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5330952" y="4041648"/>
            <a:ext cx="0" cy="292608"/>
          </a:xfrm>
          <a:prstGeom prst="line">
            <a:avLst/>
          </a:prstGeom>
          <a:noFill/>
          <a:ln w="6350">
            <a:solidFill>
              <a:srgbClr val="8A6E3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449824" y="4005072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Deployments</a:t>
            </a:r>
            <a:endParaRPr lang="en-US" sz="1050" dirty="0"/>
          </a:p>
        </p:txBody>
      </p:sp>
      <p:sp>
        <p:nvSpPr>
          <p:cNvPr id="87" name="Text 85"/>
          <p:cNvSpPr/>
          <p:nvPr/>
        </p:nvSpPr>
        <p:spPr>
          <a:xfrm>
            <a:off x="5449824" y="4206240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Worktop, Webtop and Process Browser — client environments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7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691640"/>
            <a:ext cx="9144000" cy="1783080"/>
          </a:xfrm>
          <a:prstGeom prst="rect">
            <a:avLst/>
          </a:prstGeom>
          <a:solidFill>
            <a:srgbClr val="141214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691640"/>
            <a:ext cx="91440" cy="17830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Shape 4"/>
          <p:cNvSpPr/>
          <p:nvPr/>
        </p:nvSpPr>
        <p:spPr>
          <a:xfrm>
            <a:off x="9052560" y="1691640"/>
            <a:ext cx="91440" cy="17830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0EA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spc="200" kern="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Baan ERP three-tier toolset and data dictionary structure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0" y="4663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8A6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FullonBaan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64592"/>
            <a:ext cx="1550822" cy="256032"/>
          </a:xfrm>
          <a:prstGeom prst="rect">
            <a:avLst/>
          </a:prstGeom>
          <a:solidFill>
            <a:srgbClr val="8A6E30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15508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0EAD6"/>
                </a:solidFill>
              </a:rPr>
              <a:t>ARCHITECTURE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EA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Baan ERP Tool Set — Three-Tier Package Structure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16152"/>
            <a:ext cx="8321040" cy="0"/>
          </a:xfrm>
          <a:prstGeom prst="line">
            <a:avLst/>
          </a:prstGeom>
          <a:noFill/>
          <a:ln w="10160">
            <a:solidFill>
              <a:srgbClr val="8A6E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C1A1E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496519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FullonBaan · Infor LN Training &amp; Consulting · www.fullonbaan.com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383280" y="4965192"/>
            <a:ext cx="5440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6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Baan ERP — Architecture &amp; Technical Concepts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11480" y="1298448"/>
            <a:ext cx="2596896" cy="3429000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298448"/>
            <a:ext cx="54864" cy="3429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444752"/>
            <a:ext cx="530352" cy="53035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48640" y="2066544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 Package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2450592"/>
            <a:ext cx="2139696" cy="0"/>
          </a:xfrm>
          <a:prstGeom prst="line">
            <a:avLst/>
          </a:prstGeom>
          <a:noFill/>
          <a:ln w="6350">
            <a:solidFill>
              <a:srgbClr val="2522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2505456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infrastructure services. Provides the operational foundation on which Baan runs.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40080" y="3200400"/>
            <a:ext cx="2139696" cy="0"/>
          </a:xfrm>
          <a:prstGeom prst="line">
            <a:avLst/>
          </a:prstGeom>
          <a:noFill/>
          <a:ln w="6350">
            <a:solidFill>
              <a:srgbClr val="2522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3273552"/>
            <a:ext cx="2322576" cy="1371600"/>
          </a:xfrm>
          <a:prstGeom prst="rect">
            <a:avLst/>
          </a:prstGeom>
          <a:noFill/>
          <a:ln/>
        </p:spPr>
        <p:txBody>
          <a:bodyPr wrap="square" lIns="0" tIns="127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management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management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management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management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management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management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246120" y="1298448"/>
            <a:ext cx="2596896" cy="3429000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246120" y="1298448"/>
            <a:ext cx="54864" cy="3429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444752"/>
            <a:ext cx="530352" cy="53035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383280" y="2066544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Customization Package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3474720" y="2450592"/>
            <a:ext cx="2139696" cy="0"/>
          </a:xfrm>
          <a:prstGeom prst="line">
            <a:avLst/>
          </a:prstGeom>
          <a:noFill/>
          <a:ln w="6350">
            <a:solidFill>
              <a:srgbClr val="252227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383280" y="2505456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for adapting and extending Baan ERP forms, reports and sessions without touching the core.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474720" y="3200400"/>
            <a:ext cx="2139696" cy="0"/>
          </a:xfrm>
          <a:prstGeom prst="line">
            <a:avLst/>
          </a:prstGeom>
          <a:noFill/>
          <a:ln w="6350">
            <a:solidFill>
              <a:srgbClr val="252227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383280" y="3273552"/>
            <a:ext cx="2322576" cy="1371600"/>
          </a:xfrm>
          <a:prstGeom prst="rect">
            <a:avLst/>
          </a:prstGeom>
          <a:noFill/>
          <a:ln/>
        </p:spPr>
        <p:txBody>
          <a:bodyPr wrap="square" lIns="0" tIns="127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management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management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6080760" y="1298448"/>
            <a:ext cx="2596896" cy="3429000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6080760" y="1298448"/>
            <a:ext cx="54864" cy="3429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444752"/>
            <a:ext cx="530352" cy="53035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217920" y="2066544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Package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6309360" y="2450592"/>
            <a:ext cx="2139696" cy="0"/>
          </a:xfrm>
          <a:prstGeom prst="line">
            <a:avLst/>
          </a:prstGeom>
          <a:noFill/>
          <a:ln w="6350">
            <a:solidFill>
              <a:srgbClr val="252227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217920" y="2505456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Full-spectrum development tools for building and extending Baan ERP applications from scratch.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6309360" y="3200400"/>
            <a:ext cx="2139696" cy="0"/>
          </a:xfrm>
          <a:prstGeom prst="line">
            <a:avLst/>
          </a:prstGeom>
          <a:noFill/>
          <a:ln w="6350">
            <a:solidFill>
              <a:srgbClr val="252227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217920" y="3273552"/>
            <a:ext cx="2322576" cy="1371600"/>
          </a:xfrm>
          <a:prstGeom prst="rect">
            <a:avLst/>
          </a:prstGeom>
          <a:noFill/>
          <a:ln/>
        </p:spPr>
        <p:txBody>
          <a:bodyPr wrap="square" lIns="0" tIns="127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Dictionary management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facilities (4GL)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64592"/>
            <a:ext cx="2044598" cy="256032"/>
          </a:xfrm>
          <a:prstGeom prst="rect">
            <a:avLst/>
          </a:prstGeom>
          <a:solidFill>
            <a:srgbClr val="8A6E30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20445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0EAD6"/>
                </a:solidFill>
              </a:rPr>
              <a:t>DATA DICTIONARIES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EA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Baan Data Dictionaries — Application vs Runtime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16152"/>
            <a:ext cx="8321040" cy="0"/>
          </a:xfrm>
          <a:prstGeom prst="line">
            <a:avLst/>
          </a:prstGeom>
          <a:noFill/>
          <a:ln w="10160">
            <a:solidFill>
              <a:srgbClr val="8A6E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C1A1E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496519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FullonBaan · Infor LN Training &amp; Consulting · www.fullonbaan.com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383280" y="4965192"/>
            <a:ext cx="5440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6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Baan ERP — Architecture &amp; Technical Concepts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11480" y="1298448"/>
            <a:ext cx="3931920" cy="3438144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298448"/>
            <a:ext cx="54864" cy="34381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138988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Data Dictionary (ADD)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6072" y="177393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design-time repository. Stores all master definitions created by developers — tables, domains, forms, sessions, menus and reports. Directly available and editable by authorized developers.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76072" y="2487168"/>
            <a:ext cx="3566160" cy="0"/>
          </a:xfrm>
          <a:prstGeom prst="line">
            <a:avLst/>
          </a:prstGeom>
          <a:noFill/>
          <a:ln w="6350">
            <a:solidFill>
              <a:srgbClr val="2522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" y="2578608"/>
            <a:ext cx="3566160" cy="2048256"/>
          </a:xfrm>
          <a:prstGeom prst="rect">
            <a:avLst/>
          </a:prstGeom>
          <a:noFill/>
          <a:ln/>
        </p:spPr>
        <p:txBody>
          <a:bodyPr wrap="square" lIns="0" tIns="1524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&amp; Domains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definitions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definitions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definitions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source code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17720" y="1298448"/>
            <a:ext cx="3931920" cy="3438144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1298448"/>
            <a:ext cx="54864" cy="34381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138988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Runtime Data Dictionary (RTDD)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82312" y="177393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compiled, production-ready version of the Application DD. Generated by compiling/converting the ADD. Contains the executable versions of all application components.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82312" y="2487168"/>
            <a:ext cx="3566160" cy="0"/>
          </a:xfrm>
          <a:prstGeom prst="line">
            <a:avLst/>
          </a:prstGeom>
          <a:noFill/>
          <a:ln w="6350">
            <a:solidFill>
              <a:srgbClr val="2522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82312" y="2578608"/>
            <a:ext cx="3566160" cy="2048256"/>
          </a:xfrm>
          <a:prstGeom prst="rect">
            <a:avLst/>
          </a:prstGeom>
          <a:noFill/>
          <a:ln/>
        </p:spPr>
        <p:txBody>
          <a:bodyPr wrap="square" lIns="0" tIns="1524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DLLs &amp; scripts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report layouts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menus &amp; forms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(tables)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binding info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77640" y="26517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6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8A6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/Convert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24528" y="2395728"/>
            <a:ext cx="694944" cy="73152"/>
          </a:xfrm>
          <a:prstGeom prst="rect">
            <a:avLst/>
          </a:prstGeom>
          <a:solidFill>
            <a:srgbClr val="8A6E30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2322576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</a:rPr>
              <a:t>→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7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691640"/>
            <a:ext cx="9144000" cy="1783080"/>
          </a:xfrm>
          <a:prstGeom prst="rect">
            <a:avLst/>
          </a:prstGeom>
          <a:solidFill>
            <a:srgbClr val="141214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691640"/>
            <a:ext cx="91440" cy="17830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Shape 4"/>
          <p:cNvSpPr/>
          <p:nvPr/>
        </p:nvSpPr>
        <p:spPr>
          <a:xfrm>
            <a:off x="9052560" y="1691640"/>
            <a:ext cx="91440" cy="17830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0EA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 VRC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spc="200" kern="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/ Release / Customer — the design environment framework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0" y="4663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8A6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FullonBaan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64592"/>
            <a:ext cx="1463040" cy="256032"/>
          </a:xfrm>
          <a:prstGeom prst="rect">
            <a:avLst/>
          </a:prstGeom>
          <a:solidFill>
            <a:srgbClr val="8A6E30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0EAD6"/>
                </a:solidFill>
              </a:rPr>
              <a:t>PACKAGE VRC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EA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 VRC — Design Environment Setup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16152"/>
            <a:ext cx="8321040" cy="0"/>
          </a:xfrm>
          <a:prstGeom prst="line">
            <a:avLst/>
          </a:prstGeom>
          <a:noFill/>
          <a:ln w="10160">
            <a:solidFill>
              <a:srgbClr val="8A6E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C1A1E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496519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FullonBaan · Infor LN Training &amp; Consulting · www.fullonbaan.com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383280" y="4965192"/>
            <a:ext cx="5440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6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Baan ERP — Architecture &amp; Technical Concepts</a:t>
            </a:r>
            <a:endParaRPr lang="en-US" sz="7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7040880" y="1371600"/>
            <a:ext cx="1737360" cy="17373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" y="1298448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VRC stands for Version / Release / Customer. The Package VRC concept defines the design environment — a structured hierarchy for managing and isolating application software across development, customization and production.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11480" y="2084832"/>
            <a:ext cx="8321040" cy="402336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11480" y="2084832"/>
            <a:ext cx="54864" cy="40233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1480" y="2084832"/>
            <a:ext cx="475488" cy="402336"/>
          </a:xfrm>
          <a:prstGeom prst="rect">
            <a:avLst/>
          </a:prstGeom>
          <a:solidFill>
            <a:srgbClr val="252227"/>
          </a:solidFill>
          <a:ln w="12700">
            <a:solidFill>
              <a:srgbClr val="2522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11480" y="2084832"/>
            <a:ext cx="54864" cy="40233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6" name="Text 13"/>
          <p:cNvSpPr/>
          <p:nvPr/>
        </p:nvSpPr>
        <p:spPr>
          <a:xfrm>
            <a:off x="475488" y="208483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6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87552" y="212140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 Combinations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987552" y="2304288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ttaad1520m000 — Define which packages work together in a deployment environment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11480" y="2569464"/>
            <a:ext cx="8321040" cy="402336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11480" y="2569464"/>
            <a:ext cx="54864" cy="40233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11480" y="2569464"/>
            <a:ext cx="475488" cy="402336"/>
          </a:xfrm>
          <a:prstGeom prst="rect">
            <a:avLst/>
          </a:prstGeom>
          <a:solidFill>
            <a:srgbClr val="252227"/>
          </a:solidFill>
          <a:ln w="12700">
            <a:solidFill>
              <a:srgbClr val="25222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11480" y="2569464"/>
            <a:ext cx="54864" cy="40233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3" name="Text 20"/>
          <p:cNvSpPr/>
          <p:nvPr/>
        </p:nvSpPr>
        <p:spPr>
          <a:xfrm>
            <a:off x="475488" y="2569464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6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987552" y="26060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Packages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987552" y="2788920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ttadv1100m000 — Define the top-level application packages (e.g. Finance, Logistics)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11480" y="3054096"/>
            <a:ext cx="8321040" cy="402336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11480" y="3054096"/>
            <a:ext cx="54864" cy="40233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11480" y="3054096"/>
            <a:ext cx="475488" cy="402336"/>
          </a:xfrm>
          <a:prstGeom prst="rect">
            <a:avLst/>
          </a:prstGeom>
          <a:solidFill>
            <a:srgbClr val="252227"/>
          </a:solidFill>
          <a:ln w="12700">
            <a:solidFill>
              <a:srgbClr val="252227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11480" y="3054096"/>
            <a:ext cx="54864" cy="40233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0" name="Text 27"/>
          <p:cNvSpPr/>
          <p:nvPr/>
        </p:nvSpPr>
        <p:spPr>
          <a:xfrm>
            <a:off x="475488" y="3054096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6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987552" y="30906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987552" y="3273552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ttadv1101m000 — Define the functional modules within each package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11480" y="3538728"/>
            <a:ext cx="8321040" cy="402336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11480" y="3538728"/>
            <a:ext cx="54864" cy="40233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11480" y="3538728"/>
            <a:ext cx="475488" cy="402336"/>
          </a:xfrm>
          <a:prstGeom prst="rect">
            <a:avLst/>
          </a:prstGeom>
          <a:solidFill>
            <a:srgbClr val="252227"/>
          </a:solidFill>
          <a:ln w="12700">
            <a:solidFill>
              <a:srgbClr val="252227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11480" y="3538728"/>
            <a:ext cx="54864" cy="40233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7" name="Text 34"/>
          <p:cNvSpPr/>
          <p:nvPr/>
        </p:nvSpPr>
        <p:spPr>
          <a:xfrm>
            <a:off x="475488" y="3538728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6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987552" y="357530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 VRCs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987552" y="3758184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ttadv1511m000 — Define Version/Release/Customer codes for each package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411480" y="4023360"/>
            <a:ext cx="8321040" cy="402336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411480" y="4023360"/>
            <a:ext cx="54864" cy="40233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11480" y="4023360"/>
            <a:ext cx="475488" cy="402336"/>
          </a:xfrm>
          <a:prstGeom prst="rect">
            <a:avLst/>
          </a:prstGeom>
          <a:solidFill>
            <a:srgbClr val="252227"/>
          </a:solidFill>
          <a:ln w="12700">
            <a:solidFill>
              <a:srgbClr val="252227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11480" y="4023360"/>
            <a:ext cx="54864" cy="40233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4" name="Text 41"/>
          <p:cNvSpPr/>
          <p:nvPr/>
        </p:nvSpPr>
        <p:spPr>
          <a:xfrm>
            <a:off x="475488" y="4023360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6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987552" y="405993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Directories</a:t>
            </a:r>
            <a:endParaRPr lang="en-US" sz="1050" dirty="0"/>
          </a:p>
        </p:txBody>
      </p:sp>
      <p:sp>
        <p:nvSpPr>
          <p:cNvPr id="46" name="Text 43"/>
          <p:cNvSpPr/>
          <p:nvPr/>
        </p:nvSpPr>
        <p:spPr>
          <a:xfrm>
            <a:off x="987552" y="4242816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ttadv1115m000 — Define where software components are stored physically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411480" y="4507992"/>
            <a:ext cx="8321040" cy="402336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411480" y="4507992"/>
            <a:ext cx="54864" cy="40233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411480" y="4507992"/>
            <a:ext cx="475488" cy="402336"/>
          </a:xfrm>
          <a:prstGeom prst="rect">
            <a:avLst/>
          </a:prstGeom>
          <a:solidFill>
            <a:srgbClr val="252227"/>
          </a:solidFill>
          <a:ln w="12700">
            <a:solidFill>
              <a:srgbClr val="252227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11480" y="4507992"/>
            <a:ext cx="54864" cy="40233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1" name="Text 48"/>
          <p:cNvSpPr/>
          <p:nvPr/>
        </p:nvSpPr>
        <p:spPr>
          <a:xfrm>
            <a:off x="475488" y="450799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6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52" name="Text 49"/>
          <p:cNvSpPr/>
          <p:nvPr/>
        </p:nvSpPr>
        <p:spPr>
          <a:xfrm>
            <a:off x="987552" y="45445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 by Combination</a:t>
            </a:r>
            <a:endParaRPr lang="en-US" sz="1050" dirty="0"/>
          </a:p>
        </p:txBody>
      </p:sp>
      <p:sp>
        <p:nvSpPr>
          <p:cNvPr id="53" name="Text 50"/>
          <p:cNvSpPr/>
          <p:nvPr/>
        </p:nvSpPr>
        <p:spPr>
          <a:xfrm>
            <a:off x="987552" y="4727448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ttaad1121m000 — Link packages to package combinations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64592"/>
            <a:ext cx="2735885" cy="256032"/>
          </a:xfrm>
          <a:prstGeom prst="rect">
            <a:avLst/>
          </a:prstGeom>
          <a:solidFill>
            <a:srgbClr val="8A6E30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273588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0EAD6"/>
                </a:solidFill>
              </a:rPr>
              <a:t>COMPANY &amp; VRC ADVANTAGES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EA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Concept &amp; VRC Advantages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16152"/>
            <a:ext cx="8321040" cy="0"/>
          </a:xfrm>
          <a:prstGeom prst="line">
            <a:avLst/>
          </a:prstGeom>
          <a:noFill/>
          <a:ln w="10160">
            <a:solidFill>
              <a:srgbClr val="8A6E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C1A1E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496519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FullonBaan · Infor LN Training &amp; Consulting · www.fullonbaan.com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383280" y="4965192"/>
            <a:ext cx="5440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6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Baan ERP — Architecture &amp; Technical Concepts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11480" y="1298448"/>
            <a:ext cx="4114800" cy="2487168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298448"/>
            <a:ext cx="54864" cy="24871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389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Concept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171907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are used to store data in complete isolation. In principle, each company has its own set of database tables with its own independent data.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4360" y="2414016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Customer 'CUST001' can exist in multiple companies. Each company holds a completely independent record for CUST001 with its own data values — prices, addresses, credit limits — separate from all other companies.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298448"/>
            <a:ext cx="4069080" cy="2487168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298448"/>
            <a:ext cx="54864" cy="24871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389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VRC Concept — Advantages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173736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1905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original applications unchanged while customizing in a customer VRC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duplication of software components across versions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specific users to specific application versions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development activities by version and release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customization activities separately from core development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who is using which version of which software component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3913632"/>
            <a:ext cx="8321040" cy="786384"/>
          </a:xfrm>
          <a:prstGeom prst="rect">
            <a:avLst/>
          </a:prstGeom>
          <a:solidFill>
            <a:srgbClr val="252227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3913632"/>
            <a:ext cx="54864" cy="78638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9867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Management Hierarchy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74720" y="3986784"/>
            <a:ext cx="1554480" cy="493776"/>
          </a:xfrm>
          <a:prstGeom prst="rect">
            <a:avLst/>
          </a:prstGeom>
          <a:solidFill>
            <a:srgbClr val="1C1A1E"/>
          </a:solidFill>
          <a:ln w="7620">
            <a:solidFill>
              <a:srgbClr val="8A6E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3986784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C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(V)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0" y="3986784"/>
            <a:ext cx="274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6E30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303520" y="3986784"/>
            <a:ext cx="1554480" cy="493776"/>
          </a:xfrm>
          <a:prstGeom prst="rect">
            <a:avLst/>
          </a:prstGeom>
          <a:solidFill>
            <a:srgbClr val="1C1A1E"/>
          </a:solidFill>
          <a:ln w="7620">
            <a:solidFill>
              <a:srgbClr val="8A6E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0" y="3986784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C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 (R)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3986784"/>
            <a:ext cx="274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6E30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132320" y="3986784"/>
            <a:ext cx="1554480" cy="493776"/>
          </a:xfrm>
          <a:prstGeom prst="rect">
            <a:avLst/>
          </a:prstGeom>
          <a:solidFill>
            <a:srgbClr val="1C1A1E"/>
          </a:solidFill>
          <a:ln w="7620">
            <a:solidFill>
              <a:srgbClr val="8A6E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0" y="3986784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C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(C)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7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691640"/>
            <a:ext cx="9144000" cy="1783080"/>
          </a:xfrm>
          <a:prstGeom prst="rect">
            <a:avLst/>
          </a:prstGeom>
          <a:solidFill>
            <a:srgbClr val="141214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691640"/>
            <a:ext cx="91440" cy="17830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Shape 4"/>
          <p:cNvSpPr/>
          <p:nvPr/>
        </p:nvSpPr>
        <p:spPr>
          <a:xfrm>
            <a:off x="9052560" y="1691640"/>
            <a:ext cx="91440" cy="17830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0EA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Domains &amp; Tables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spc="200" kern="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types, domains, table definitions, field relations and indices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0" y="4663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8A6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FullonBaan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64592"/>
            <a:ext cx="2340864" cy="256032"/>
          </a:xfrm>
          <a:prstGeom prst="rect">
            <a:avLst/>
          </a:prstGeom>
          <a:solidFill>
            <a:srgbClr val="8A6E30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0EAD6"/>
                </a:solidFill>
              </a:rPr>
              <a:t>DATA TYPES &amp; DOMAINS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EA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Types and Domains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16152"/>
            <a:ext cx="8321040" cy="0"/>
          </a:xfrm>
          <a:prstGeom prst="line">
            <a:avLst/>
          </a:prstGeom>
          <a:noFill/>
          <a:ln w="10160">
            <a:solidFill>
              <a:srgbClr val="8A6E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C1A1E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496519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FullonBaan · Infor LN Training &amp; Consulting · www.fullonbaan.com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383280" y="4965192"/>
            <a:ext cx="5440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6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Baan ERP — Architecture &amp; Technical Concepts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11480" y="12984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Baan Data Types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1627632"/>
            <a:ext cx="1097280" cy="329184"/>
          </a:xfrm>
          <a:prstGeom prst="rect">
            <a:avLst/>
          </a:prstGeom>
          <a:solidFill>
            <a:srgbClr val="252227"/>
          </a:solidFill>
          <a:ln w="6350">
            <a:solidFill>
              <a:srgbClr val="8A6E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62763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C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508760" y="1627632"/>
            <a:ext cx="1280160" cy="329184"/>
          </a:xfrm>
          <a:prstGeom prst="rect">
            <a:avLst/>
          </a:prstGeom>
          <a:solidFill>
            <a:srgbClr val="252227"/>
          </a:solidFill>
          <a:ln w="6350">
            <a:solidFill>
              <a:srgbClr val="8A6E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08760" y="162763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C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88920" y="1627632"/>
            <a:ext cx="822960" cy="329184"/>
          </a:xfrm>
          <a:prstGeom prst="rect">
            <a:avLst/>
          </a:prstGeom>
          <a:solidFill>
            <a:srgbClr val="252227"/>
          </a:solidFill>
          <a:ln w="6350">
            <a:solidFill>
              <a:srgbClr val="8A6E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88920" y="162763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C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Size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1956816"/>
            <a:ext cx="1097280" cy="265176"/>
          </a:xfrm>
          <a:prstGeom prst="rect">
            <a:avLst/>
          </a:prstGeom>
          <a:solidFill>
            <a:srgbClr val="1C1A1E"/>
          </a:solidFill>
          <a:ln w="3810">
            <a:solidFill>
              <a:srgbClr val="2522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1956816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508760" y="1956816"/>
            <a:ext cx="1280160" cy="265176"/>
          </a:xfrm>
          <a:prstGeom prst="rect">
            <a:avLst/>
          </a:prstGeom>
          <a:solidFill>
            <a:srgbClr val="1C1A1E"/>
          </a:solidFill>
          <a:ln w="3810">
            <a:solidFill>
              <a:srgbClr val="2522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08760" y="1956816"/>
            <a:ext cx="1280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88920" y="1956816"/>
            <a:ext cx="822960" cy="265176"/>
          </a:xfrm>
          <a:prstGeom prst="rect">
            <a:avLst/>
          </a:prstGeom>
          <a:solidFill>
            <a:srgbClr val="1C1A1E"/>
          </a:solidFill>
          <a:ln w="3810">
            <a:solidFill>
              <a:srgbClr val="2522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88920" y="1956816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byte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2240280"/>
            <a:ext cx="1097280" cy="265176"/>
          </a:xfrm>
          <a:prstGeom prst="rect">
            <a:avLst/>
          </a:prstGeom>
          <a:solidFill>
            <a:srgbClr val="141214"/>
          </a:solidFill>
          <a:ln w="3810">
            <a:solidFill>
              <a:srgbClr val="25222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240280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508760" y="2240280"/>
            <a:ext cx="1280160" cy="265176"/>
          </a:xfrm>
          <a:prstGeom prst="rect">
            <a:avLst/>
          </a:prstGeom>
          <a:solidFill>
            <a:srgbClr val="141214"/>
          </a:solidFill>
          <a:ln w="3810">
            <a:solidFill>
              <a:srgbClr val="25222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08760" y="2240280"/>
            <a:ext cx="1280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88920" y="2240280"/>
            <a:ext cx="822960" cy="265176"/>
          </a:xfrm>
          <a:prstGeom prst="rect">
            <a:avLst/>
          </a:prstGeom>
          <a:solidFill>
            <a:srgbClr val="141214"/>
          </a:solidFill>
          <a:ln w="3810">
            <a:solidFill>
              <a:srgbClr val="25222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88920" y="2240280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bytes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11480" y="2523744"/>
            <a:ext cx="1097280" cy="265176"/>
          </a:xfrm>
          <a:prstGeom prst="rect">
            <a:avLst/>
          </a:prstGeom>
          <a:solidFill>
            <a:srgbClr val="1C1A1E"/>
          </a:solidFill>
          <a:ln w="3810">
            <a:solidFill>
              <a:srgbClr val="25222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2523744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508760" y="2523744"/>
            <a:ext cx="1280160" cy="265176"/>
          </a:xfrm>
          <a:prstGeom prst="rect">
            <a:avLst/>
          </a:prstGeom>
          <a:solidFill>
            <a:srgbClr val="1C1A1E"/>
          </a:solidFill>
          <a:ln w="3810">
            <a:solidFill>
              <a:srgbClr val="2522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08760" y="2523744"/>
            <a:ext cx="1280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88920" y="2523744"/>
            <a:ext cx="822960" cy="265176"/>
          </a:xfrm>
          <a:prstGeom prst="rect">
            <a:avLst/>
          </a:prstGeom>
          <a:solidFill>
            <a:srgbClr val="1C1A1E"/>
          </a:solidFill>
          <a:ln w="3810">
            <a:solidFill>
              <a:srgbClr val="25222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88920" y="2523744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bytes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11480" y="2807208"/>
            <a:ext cx="1097280" cy="265176"/>
          </a:xfrm>
          <a:prstGeom prst="rect">
            <a:avLst/>
          </a:prstGeom>
          <a:solidFill>
            <a:srgbClr val="141214"/>
          </a:solidFill>
          <a:ln w="3810">
            <a:solidFill>
              <a:srgbClr val="25222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2807208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508760" y="2807208"/>
            <a:ext cx="1280160" cy="265176"/>
          </a:xfrm>
          <a:prstGeom prst="rect">
            <a:avLst/>
          </a:prstGeom>
          <a:solidFill>
            <a:srgbClr val="141214"/>
          </a:solidFill>
          <a:ln w="3810">
            <a:solidFill>
              <a:srgbClr val="25222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508760" y="2807208"/>
            <a:ext cx="1280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88920" y="2807208"/>
            <a:ext cx="822960" cy="265176"/>
          </a:xfrm>
          <a:prstGeom prst="rect">
            <a:avLst/>
          </a:prstGeom>
          <a:solidFill>
            <a:srgbClr val="141214"/>
          </a:solidFill>
          <a:ln w="3810">
            <a:solidFill>
              <a:srgbClr val="25222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88920" y="2807208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bytes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11480" y="3090672"/>
            <a:ext cx="1097280" cy="265176"/>
          </a:xfrm>
          <a:prstGeom prst="rect">
            <a:avLst/>
          </a:prstGeom>
          <a:solidFill>
            <a:srgbClr val="1C1A1E"/>
          </a:solidFill>
          <a:ln w="3810">
            <a:solidFill>
              <a:srgbClr val="25222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3090672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508760" y="3090672"/>
            <a:ext cx="1280160" cy="265176"/>
          </a:xfrm>
          <a:prstGeom prst="rect">
            <a:avLst/>
          </a:prstGeom>
          <a:solidFill>
            <a:srgbClr val="1C1A1E"/>
          </a:solidFill>
          <a:ln w="3810">
            <a:solidFill>
              <a:srgbClr val="25222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508760" y="3090672"/>
            <a:ext cx="1280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Alphanumeric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88920" y="3090672"/>
            <a:ext cx="822960" cy="265176"/>
          </a:xfrm>
          <a:prstGeom prst="rect">
            <a:avLst/>
          </a:prstGeom>
          <a:solidFill>
            <a:srgbClr val="1C1A1E"/>
          </a:solidFill>
          <a:ln w="3810">
            <a:solidFill>
              <a:srgbClr val="25222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88920" y="3090672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1024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11480" y="3374136"/>
            <a:ext cx="1097280" cy="265176"/>
          </a:xfrm>
          <a:prstGeom prst="rect">
            <a:avLst/>
          </a:prstGeom>
          <a:solidFill>
            <a:srgbClr val="141214"/>
          </a:solidFill>
          <a:ln w="3810">
            <a:solidFill>
              <a:srgbClr val="25222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3374136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Enumerated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508760" y="3374136"/>
            <a:ext cx="1280160" cy="265176"/>
          </a:xfrm>
          <a:prstGeom prst="rect">
            <a:avLst/>
          </a:prstGeom>
          <a:solidFill>
            <a:srgbClr val="141214"/>
          </a:solidFill>
          <a:ln w="3810">
            <a:solidFill>
              <a:srgbClr val="25222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508760" y="3374136"/>
            <a:ext cx="1280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Values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788920" y="3374136"/>
            <a:ext cx="822960" cy="265176"/>
          </a:xfrm>
          <a:prstGeom prst="rect">
            <a:avLst/>
          </a:prstGeom>
          <a:solidFill>
            <a:srgbClr val="141214"/>
          </a:solidFill>
          <a:ln w="3810">
            <a:solidFill>
              <a:srgbClr val="25222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88920" y="3374136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(Yes/No etc.)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11480" y="3657600"/>
            <a:ext cx="1097280" cy="265176"/>
          </a:xfrm>
          <a:prstGeom prst="rect">
            <a:avLst/>
          </a:prstGeom>
          <a:solidFill>
            <a:srgbClr val="1C1A1E"/>
          </a:solidFill>
          <a:ln w="3810">
            <a:solidFill>
              <a:srgbClr val="25222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3657600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Utc/date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1508760" y="3657600"/>
            <a:ext cx="1280160" cy="265176"/>
          </a:xfrm>
          <a:prstGeom prst="rect">
            <a:avLst/>
          </a:prstGeom>
          <a:solidFill>
            <a:srgbClr val="1C1A1E"/>
          </a:solidFill>
          <a:ln w="3810">
            <a:solidFill>
              <a:srgbClr val="25222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508760" y="3657600"/>
            <a:ext cx="1280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&amp; Time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788920" y="3657600"/>
            <a:ext cx="822960" cy="265176"/>
          </a:xfrm>
          <a:prstGeom prst="rect">
            <a:avLst/>
          </a:prstGeom>
          <a:solidFill>
            <a:srgbClr val="1C1A1E"/>
          </a:solidFill>
          <a:ln w="3810">
            <a:solidFill>
              <a:srgbClr val="25222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788920" y="3657600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bytes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11480" y="3941064"/>
            <a:ext cx="1097280" cy="265176"/>
          </a:xfrm>
          <a:prstGeom prst="rect">
            <a:avLst/>
          </a:prstGeom>
          <a:solidFill>
            <a:srgbClr val="141214"/>
          </a:solidFill>
          <a:ln w="3810">
            <a:solidFill>
              <a:srgbClr val="25222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11480" y="3941064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1508760" y="3941064"/>
            <a:ext cx="1280160" cy="265176"/>
          </a:xfrm>
          <a:prstGeom prst="rect">
            <a:avLst/>
          </a:prstGeom>
          <a:solidFill>
            <a:srgbClr val="141214"/>
          </a:solidFill>
          <a:ln w="3810">
            <a:solidFill>
              <a:srgbClr val="25222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508760" y="3941064"/>
            <a:ext cx="1280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Alphanumeric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2788920" y="3941064"/>
            <a:ext cx="822960" cy="265176"/>
          </a:xfrm>
          <a:prstGeom prst="rect">
            <a:avLst/>
          </a:prstGeom>
          <a:solidFill>
            <a:srgbClr val="141214"/>
          </a:solidFill>
          <a:ln w="3810">
            <a:solidFill>
              <a:srgbClr val="25222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788920" y="3941064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3794760" y="1298448"/>
            <a:ext cx="4937760" cy="3438144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3794760" y="1298448"/>
            <a:ext cx="54864" cy="34381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977640" y="13898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Domains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3977640" y="1719072"/>
            <a:ext cx="4480560" cy="1737360"/>
          </a:xfrm>
          <a:prstGeom prst="rect">
            <a:avLst/>
          </a:prstGeom>
          <a:noFill/>
          <a:ln/>
        </p:spPr>
        <p:txBody>
          <a:bodyPr wrap="square" lIns="0" tIns="1905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domain is a reusable pool of attribute values and validation rules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properties of an attribute can be defined as a domain — data type, width, alignment, case and basic validations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domain can be attached to more than one table field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domain is modified, the change propagates to all fields that reference it — maintaining consistency across the entire application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changes reflect to all attached fields automatically — a single change updates all references simultaneously</a:t>
            </a:r>
            <a:endParaRPr lang="en-US" sz="1150" dirty="0"/>
          </a:p>
        </p:txBody>
      </p:sp>
      <p:sp>
        <p:nvSpPr>
          <p:cNvPr id="69" name="Text 67"/>
          <p:cNvSpPr/>
          <p:nvPr/>
        </p:nvSpPr>
        <p:spPr>
          <a:xfrm>
            <a:off x="3977640" y="354787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Example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3977640" y="3840480"/>
            <a:ext cx="4480560" cy="914400"/>
          </a:xfrm>
          <a:prstGeom prst="rect">
            <a:avLst/>
          </a:prstGeom>
          <a:solidFill>
            <a:srgbClr val="080708"/>
          </a:solidFill>
          <a:ln w="7620">
            <a:solidFill>
              <a:srgbClr val="8A6E3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114800" y="39319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Domain: ppyesno    Type: Enumerated  Len: 3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1. Yes   2. No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Domain: ppdsca     Type: String      Len: 30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Alignment: Left   Conversion: None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64592"/>
            <a:ext cx="1945843" cy="256032"/>
          </a:xfrm>
          <a:prstGeom prst="rect">
            <a:avLst/>
          </a:prstGeom>
          <a:solidFill>
            <a:srgbClr val="8A6E30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19458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0EAD6"/>
                </a:solidFill>
              </a:rPr>
              <a:t>TABLE DEFINITION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EA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Definitions — Fields, Relations and Indices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16152"/>
            <a:ext cx="8321040" cy="0"/>
          </a:xfrm>
          <a:prstGeom prst="line">
            <a:avLst/>
          </a:prstGeom>
          <a:noFill/>
          <a:ln w="10160">
            <a:solidFill>
              <a:srgbClr val="8A6E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C1A1E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496519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FullonBaan · Infor LN Training &amp; Consulting · www.fullonbaan.com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383280" y="4965192"/>
            <a:ext cx="5440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6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Baan ERP — Architecture &amp; Technical Concepts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11480" y="1298448"/>
            <a:ext cx="3931920" cy="1664208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298448"/>
            <a:ext cx="54864" cy="16642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755648"/>
            <a:ext cx="402336" cy="40233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43000" y="1389888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43000" y="1682496"/>
            <a:ext cx="30723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table is built from field definitions. A field inherits its data type, length, display format, valid range and legal characters from its attached Domain.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76072" y="2231136"/>
            <a:ext cx="3566160" cy="0"/>
          </a:xfrm>
          <a:prstGeom prst="line">
            <a:avLst/>
          </a:prstGeom>
          <a:noFill/>
          <a:ln w="6350">
            <a:solidFill>
              <a:srgbClr val="2522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6072" y="2304288"/>
            <a:ext cx="3566160" cy="603504"/>
          </a:xfrm>
          <a:prstGeom prst="rect">
            <a:avLst/>
          </a:prstGeom>
          <a:noFill/>
          <a:ln/>
        </p:spPr>
        <p:txBody>
          <a:bodyPr wrap="square" lIns="0" tIns="127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9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 type and validation from Domain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9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domain defaults at field level if needed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9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form the structural columns of the table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617720" y="1298448"/>
            <a:ext cx="3931920" cy="1664208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617720" y="1298448"/>
            <a:ext cx="54864" cy="16642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1755648"/>
            <a:ext cx="402336" cy="40233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349240" y="1389888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 (Foreign Keys)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349240" y="1682496"/>
            <a:ext cx="30723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relationships between tables. A relation specifies foreign key columns and referential integrity behaviour — what happens when a parent record is deleted or updated.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782312" y="2231136"/>
            <a:ext cx="3566160" cy="0"/>
          </a:xfrm>
          <a:prstGeom prst="line">
            <a:avLst/>
          </a:prstGeom>
          <a:noFill/>
          <a:ln w="6350">
            <a:solidFill>
              <a:srgbClr val="252227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782312" y="2304288"/>
            <a:ext cx="3566160" cy="603504"/>
          </a:xfrm>
          <a:prstGeom prst="rect">
            <a:avLst/>
          </a:prstGeom>
          <a:noFill/>
          <a:ln/>
        </p:spPr>
        <p:txBody>
          <a:bodyPr wrap="square" lIns="0" tIns="127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9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/ Not Mandatory / Mand. unless Empty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9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Ref. Integrity: Delete child / Restricted / Nullifies / No Check / Lookup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411480" y="3127248"/>
            <a:ext cx="3931920" cy="1664208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11480" y="3127248"/>
            <a:ext cx="54864" cy="16642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3584448"/>
            <a:ext cx="402336" cy="40233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143000" y="3218688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Indices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1143000" y="3511296"/>
            <a:ext cx="30723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access paths for reading table data efficiently. Each table has one Primary index (unique) and can have multiple Secondary indices (unique or allowing duplicates).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576072" y="4059936"/>
            <a:ext cx="3566160" cy="0"/>
          </a:xfrm>
          <a:prstGeom prst="line">
            <a:avLst/>
          </a:prstGeom>
          <a:noFill/>
          <a:ln w="6350">
            <a:solidFill>
              <a:srgbClr val="252227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576072" y="4133088"/>
            <a:ext cx="3566160" cy="603504"/>
          </a:xfrm>
          <a:prstGeom prst="rect">
            <a:avLst/>
          </a:prstGeom>
          <a:noFill/>
          <a:ln/>
        </p:spPr>
        <p:txBody>
          <a:bodyPr wrap="square" lIns="0" tIns="127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9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index: unique key — no duplicate records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9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indices: unique or duplicate allowed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9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Indices control sort order and query performance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4617720" y="3127248"/>
            <a:ext cx="3931920" cy="1664208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4617720" y="3127248"/>
            <a:ext cx="54864" cy="16642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312" y="3584448"/>
            <a:ext cx="402336" cy="402336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349240" y="3218688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Delayed Lock Groups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5349240" y="3511296"/>
            <a:ext cx="30723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group of fields used for delayed lock comparison. When two users modify the same record, the system compares the field values to detect conflicts before applying the lock.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4782312" y="4059936"/>
            <a:ext cx="3566160" cy="0"/>
          </a:xfrm>
          <a:prstGeom prst="line">
            <a:avLst/>
          </a:prstGeom>
          <a:noFill/>
          <a:ln w="6350">
            <a:solidFill>
              <a:srgbClr val="252227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4782312" y="4133088"/>
            <a:ext cx="3566160" cy="603504"/>
          </a:xfrm>
          <a:prstGeom prst="rect">
            <a:avLst/>
          </a:prstGeom>
          <a:noFill/>
          <a:ln/>
        </p:spPr>
        <p:txBody>
          <a:bodyPr wrap="square" lIns="0" tIns="127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9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fields that form the basis for lock comparison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9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postponing physical record lock as long as possible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9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 detected at commit time rather than at first read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7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691640"/>
            <a:ext cx="9144000" cy="1783080"/>
          </a:xfrm>
          <a:prstGeom prst="rect">
            <a:avLst/>
          </a:prstGeom>
          <a:solidFill>
            <a:srgbClr val="141214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691640"/>
            <a:ext cx="91440" cy="17830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Shape 4"/>
          <p:cNvSpPr/>
          <p:nvPr/>
        </p:nvSpPr>
        <p:spPr>
          <a:xfrm>
            <a:off x="9052560" y="1691640"/>
            <a:ext cx="91440" cy="17830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0EA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&amp; Authorization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spc="200" kern="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users, roles and managing access at session and table level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0" y="4663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8A6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FullonBaan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64592"/>
            <a:ext cx="2340864" cy="256032"/>
          </a:xfrm>
          <a:prstGeom prst="rect">
            <a:avLst/>
          </a:prstGeom>
          <a:solidFill>
            <a:srgbClr val="8A6E30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0EAD6"/>
                </a:solidFill>
              </a:rPr>
              <a:t>USER &amp; AUTHORIZATION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EA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Users and User Roles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16152"/>
            <a:ext cx="8321040" cy="0"/>
          </a:xfrm>
          <a:prstGeom prst="line">
            <a:avLst/>
          </a:prstGeom>
          <a:noFill/>
          <a:ln w="10160">
            <a:solidFill>
              <a:srgbClr val="8A6E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C1A1E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496519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FullonBaan · Infor LN Training &amp; Consulting · www.fullonbaan.com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383280" y="4965192"/>
            <a:ext cx="5440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6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Baan ERP — Architecture &amp; Technical Concepts</a:t>
            </a:r>
            <a:endParaRPr lang="en-US" sz="7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7040880" y="1371600"/>
            <a:ext cx="1737360" cy="17373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11480" y="1298448"/>
            <a:ext cx="6400800" cy="1188720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1480" y="1298448"/>
            <a:ext cx="54864" cy="1188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389888"/>
            <a:ext cx="59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a Baan User — Three Steps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94360" y="1719072"/>
            <a:ext cx="365760" cy="31089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" y="171907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07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42416" y="1719072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user at the Operating System level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642616" y="1719072"/>
            <a:ext cx="365760" cy="31089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42616" y="171907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07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090672" y="1719072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user within the Baan system and link it to the OS-level user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690872" y="1719072"/>
            <a:ext cx="365760" cy="31089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90872" y="171907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07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138928" y="1719072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the Baan user to an existing database user, or convert the Baan user to a new database user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11480" y="2615184"/>
            <a:ext cx="6400800" cy="2121408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11480" y="2615184"/>
            <a:ext cx="54864" cy="21214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94360" y="2706624"/>
            <a:ext cx="59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Roles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94360" y="2999232"/>
            <a:ext cx="5989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 control access to sessions, tables and libraries. A role groups a set of permissions and is assigned to one or more users — simplifying access management in large deployments.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94360" y="35295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Session Authorization  — 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94360" y="3529584"/>
            <a:ext cx="5989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Company / Package / Module / Session level — with permissions from None to Full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94360" y="378561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Table Authorization  — 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94360" y="3785616"/>
            <a:ext cx="5989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Company / Package / Module / Table / Record (row) level — with R/W/D/Insert granularity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94360" y="404164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Library Authorization  — 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94360" y="4041648"/>
            <a:ext cx="5989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access to specific application library components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7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691640"/>
            <a:ext cx="9144000" cy="1783080"/>
          </a:xfrm>
          <a:prstGeom prst="rect">
            <a:avLst/>
          </a:prstGeom>
          <a:solidFill>
            <a:srgbClr val="141214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691640"/>
            <a:ext cx="91440" cy="17830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Shape 4"/>
          <p:cNvSpPr/>
          <p:nvPr/>
        </p:nvSpPr>
        <p:spPr>
          <a:xfrm>
            <a:off x="9052560" y="1691640"/>
            <a:ext cx="91440" cy="17830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0EA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spc="200" kern="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types, design, coding conventions and session generator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0" y="4663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8A6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FullonBaan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64592"/>
            <a:ext cx="2242109" cy="256032"/>
          </a:xfrm>
          <a:prstGeom prst="rect">
            <a:avLst/>
          </a:prstGeom>
          <a:solidFill>
            <a:srgbClr val="8A6E30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224210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0EAD6"/>
                </a:solidFill>
              </a:rPr>
              <a:t>SESSIONS — OVERVIEW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EA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Sessions — The Basic Functional Element of Baan ERP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16152"/>
            <a:ext cx="8321040" cy="0"/>
          </a:xfrm>
          <a:prstGeom prst="line">
            <a:avLst/>
          </a:prstGeom>
          <a:noFill/>
          <a:ln w="10160">
            <a:solidFill>
              <a:srgbClr val="8A6E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C1A1E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496519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FullonBaan · Infor LN Training &amp; Consulting · www.fullonbaan.com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383280" y="4965192"/>
            <a:ext cx="5440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6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Baan ERP — Architecture &amp; Technical Concepts</a:t>
            </a:r>
            <a:endParaRPr lang="en-US" sz="7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7040880" y="1371600"/>
            <a:ext cx="1737360" cy="17373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11480" y="1298448"/>
            <a:ext cx="6400800" cy="749808"/>
          </a:xfrm>
          <a:prstGeom prst="rect">
            <a:avLst/>
          </a:prstGeom>
          <a:solidFill>
            <a:srgbClr val="252227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1480" y="1298448"/>
            <a:ext cx="54864" cy="7498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389888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session is the fundamental executable unit in Baan ERP. It is the basic functional element that users interact with — every screen, report and process is a session.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11480" y="2194560"/>
            <a:ext cx="6400800" cy="658368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11480" y="2194560"/>
            <a:ext cx="54864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6072" y="226771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Maintain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892808" y="2286000"/>
            <a:ext cx="0" cy="475488"/>
          </a:xfrm>
          <a:prstGeom prst="line">
            <a:avLst/>
          </a:prstGeom>
          <a:noFill/>
          <a:ln w="6350">
            <a:solidFill>
              <a:srgbClr val="2522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039112" y="2286000"/>
            <a:ext cx="4617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users to view, insert, modify and delete records. The primary data entry session type.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11480" y="2944368"/>
            <a:ext cx="6400800" cy="658368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11480" y="2944368"/>
            <a:ext cx="54864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76072" y="301752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Display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892808" y="3035808"/>
            <a:ext cx="0" cy="475488"/>
          </a:xfrm>
          <a:prstGeom prst="line">
            <a:avLst/>
          </a:prstGeom>
          <a:noFill/>
          <a:ln w="6350">
            <a:solidFill>
              <a:srgbClr val="2522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039112" y="3035808"/>
            <a:ext cx="4617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view of data. No changes can be made by the user.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411480" y="3694176"/>
            <a:ext cx="6400800" cy="658368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11480" y="3694176"/>
            <a:ext cx="54864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76072" y="376732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Print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892808" y="3785616"/>
            <a:ext cx="0" cy="475488"/>
          </a:xfrm>
          <a:prstGeom prst="line">
            <a:avLst/>
          </a:prstGeom>
          <a:noFill/>
          <a:ln w="6350">
            <a:solidFill>
              <a:srgbClr val="2522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039112" y="3785616"/>
            <a:ext cx="4617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report or printed output based on a selection range.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411480" y="4443984"/>
            <a:ext cx="6400800" cy="658368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11480" y="4443984"/>
            <a:ext cx="54864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76072" y="451713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892808" y="4535424"/>
            <a:ext cx="0" cy="475488"/>
          </a:xfrm>
          <a:prstGeom prst="line">
            <a:avLst/>
          </a:prstGeom>
          <a:noFill/>
          <a:ln w="6350">
            <a:solidFill>
              <a:srgbClr val="25222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039112" y="4535424"/>
            <a:ext cx="4617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a batch operation or business process — does not display a data grid.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411480" y="5193792"/>
            <a:ext cx="6400800" cy="658368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411480" y="5193792"/>
            <a:ext cx="54864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76072" y="526694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1892808" y="5285232"/>
            <a:ext cx="0" cy="475488"/>
          </a:xfrm>
          <a:prstGeom prst="line">
            <a:avLst/>
          </a:prstGeom>
          <a:noFill/>
          <a:ln w="6350">
            <a:solidFill>
              <a:srgbClr val="25222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039112" y="5285232"/>
            <a:ext cx="4617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data in graphical / chart format.</a:t>
            </a:r>
            <a:endParaRPr lang="en-US" sz="1150" dirty="0"/>
          </a:p>
        </p:txBody>
      </p:sp>
      <p:sp>
        <p:nvSpPr>
          <p:cNvPr id="39" name="Text 36"/>
          <p:cNvSpPr/>
          <p:nvPr/>
        </p:nvSpPr>
        <p:spPr>
          <a:xfrm>
            <a:off x="411480" y="594360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 Occurrence = list of records (overview)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Occurrence = one record at a time (detail)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64592"/>
            <a:ext cx="2933395" cy="256032"/>
          </a:xfrm>
          <a:prstGeom prst="rect">
            <a:avLst/>
          </a:prstGeom>
          <a:solidFill>
            <a:srgbClr val="8A6E30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29333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0EAD6"/>
                </a:solidFill>
              </a:rPr>
              <a:t>SESSION CODING CONVENTIONS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EA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Coding Conventions &amp; Generator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16152"/>
            <a:ext cx="8321040" cy="0"/>
          </a:xfrm>
          <a:prstGeom prst="line">
            <a:avLst/>
          </a:prstGeom>
          <a:noFill/>
          <a:ln w="10160">
            <a:solidFill>
              <a:srgbClr val="8A6E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C1A1E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496519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FullonBaan · Infor LN Training &amp; Consulting · www.fullonbaan.com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383280" y="4965192"/>
            <a:ext cx="5440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6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Baan ERP — Architecture &amp; Technical Concepts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11480" y="1298448"/>
            <a:ext cx="5120640" cy="2103120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298448"/>
            <a:ext cx="54864" cy="21031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38988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Code Structure:  kkmmmsfvvp000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1719072"/>
            <a:ext cx="4754880" cy="1463040"/>
          </a:xfrm>
          <a:prstGeom prst="rect">
            <a:avLst/>
          </a:prstGeom>
          <a:solidFill>
            <a:srgbClr val="080708"/>
          </a:solidFill>
          <a:ln w="7620">
            <a:solidFill>
              <a:srgbClr val="8A6E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1810512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kk   = Package code           (e.g. td = Trade, ti = Integration)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mmm  = Module code            (e.g. sls = Sales)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   = Function/sub-module     (e.g. 0,1,2...)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   = Session type            (1=Maintain, 2=Process, 4=Print, 5=Display)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vv   = Sequence number         (e.g. 00, 10, 20)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   = Occurrence              (m=Multi, s=Single)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  = Suffix                  (always 000)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0" y="1298448"/>
            <a:ext cx="3063240" cy="4535424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69280" y="1298448"/>
            <a:ext cx="54864" cy="453542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33872" y="1389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Generator Conventions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33872" y="17373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 Session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33872" y="1956816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 Occ · Display · List Window · 132 chars · Option Set M.2.S · Code: kkmmms5vvm000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833872" y="2432304"/>
            <a:ext cx="2560320" cy="0"/>
          </a:xfrm>
          <a:prstGeom prst="line">
            <a:avLst/>
          </a:prstGeom>
          <a:noFill/>
          <a:ln w="6350">
            <a:solidFill>
              <a:srgbClr val="2522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33872" y="2560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Details Session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33872" y="2779776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Occ · Maintain · Sync Dialog · 80 chars · Option Set S.Y.O · Code: kkmmms1vvs000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833872" y="3255264"/>
            <a:ext cx="2560320" cy="0"/>
          </a:xfrm>
          <a:prstGeom prst="line">
            <a:avLst/>
          </a:prstGeom>
          <a:noFill/>
          <a:ln w="6350">
            <a:solidFill>
              <a:srgbClr val="25222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33872" y="33832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Multi-Occ Maintain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33872" y="3602736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 Occ · Maintain · List Window · 80 chars · Option Set M.2.O · Code: kkmmms1vvm000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833872" y="4078224"/>
            <a:ext cx="2560320" cy="0"/>
          </a:xfrm>
          <a:prstGeom prst="line">
            <a:avLst/>
          </a:prstGeom>
          <a:noFill/>
          <a:ln w="6350">
            <a:solidFill>
              <a:srgbClr val="25222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33872" y="42062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Print Session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33872" y="4425696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· Dialog · Option Set P.4.O · Label ttgen.print · Code: kkmmms4vvm000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833872" y="4901184"/>
            <a:ext cx="2560320" cy="0"/>
          </a:xfrm>
          <a:prstGeom prst="line">
            <a:avLst/>
          </a:prstGeom>
          <a:noFill/>
          <a:ln w="6350">
            <a:solidFill>
              <a:srgbClr val="25222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3529584"/>
            <a:ext cx="5120640" cy="2304288"/>
          </a:xfrm>
          <a:prstGeom prst="rect">
            <a:avLst/>
          </a:prstGeom>
          <a:solidFill>
            <a:srgbClr val="252227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11480" y="3529584"/>
            <a:ext cx="54864" cy="23042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62102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4GL Session Contents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94360" y="3950208"/>
            <a:ext cx="4754880" cy="1755648"/>
          </a:xfrm>
          <a:prstGeom prst="rect">
            <a:avLst/>
          </a:prstGeom>
          <a:noFill/>
          <a:ln/>
        </p:spPr>
        <p:txBody>
          <a:bodyPr wrap="square" lIns="0" tIns="1905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table (primary data source)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script type (1/2/3/4) controlling default behaviour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script (4GL — optional custom logic)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(visual layout and input/display)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(optional — for print sessions)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07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691640"/>
            <a:ext cx="9144000" cy="1783080"/>
          </a:xfrm>
          <a:prstGeom prst="rect">
            <a:avLst/>
          </a:prstGeom>
          <a:solidFill>
            <a:srgbClr val="141214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691640"/>
            <a:ext cx="91440" cy="17830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Shape 4"/>
          <p:cNvSpPr/>
          <p:nvPr/>
        </p:nvSpPr>
        <p:spPr>
          <a:xfrm>
            <a:off x="9052560" y="1691640"/>
            <a:ext cx="91440" cy="17830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0EA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Forms — Dynamic Form Editor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spc="200" kern="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session/form design with flexible field layout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0" y="4663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8A6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FullonBaan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64592"/>
            <a:ext cx="3032150" cy="256032"/>
          </a:xfrm>
          <a:prstGeom prst="rect">
            <a:avLst/>
          </a:prstGeom>
          <a:solidFill>
            <a:srgbClr val="8A6E30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30321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0EAD6"/>
                </a:solidFill>
              </a:rPr>
              <a:t>FORMS — DYNAMIC FORM EDITOR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EA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Form Editor — Features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16152"/>
            <a:ext cx="8321040" cy="0"/>
          </a:xfrm>
          <a:prstGeom prst="line">
            <a:avLst/>
          </a:prstGeom>
          <a:noFill/>
          <a:ln w="10160">
            <a:solidFill>
              <a:srgbClr val="8A6E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C1A1E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496519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FullonBaan · Infor LN Training &amp; Consulting · www.fullonbaan.com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383280" y="4965192"/>
            <a:ext cx="5440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6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Baan ERP — Architecture &amp; Technical Concepts</a:t>
            </a:r>
            <a:endParaRPr lang="en-US" sz="7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7040880" y="1371600"/>
            <a:ext cx="1737360" cy="17373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" y="1298448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Dynamic Form Editor is Baan's modern form design tool that integrates session and form definitions. It replaces the legacy Static Form Editor with a more flexible, data-driven approach to building user interfaces.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11480" y="2084832"/>
            <a:ext cx="6400800" cy="658368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11480" y="2084832"/>
            <a:ext cx="54864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6072" y="215798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and Form Integrated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807208" y="2176272"/>
            <a:ext cx="0" cy="475488"/>
          </a:xfrm>
          <a:prstGeom prst="line">
            <a:avLst/>
          </a:prstGeom>
          <a:noFill/>
          <a:ln w="6350">
            <a:solidFill>
              <a:srgbClr val="2522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953512" y="2176272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session and its form are designed together in one tool — there is no separate form editing step. Form changes are immediately visible in the session context.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11480" y="2834640"/>
            <a:ext cx="6400800" cy="658368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11480" y="2834640"/>
            <a:ext cx="54864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6072" y="290779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Form Per Session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807208" y="2926080"/>
            <a:ext cx="0" cy="475488"/>
          </a:xfrm>
          <a:prstGeom prst="line">
            <a:avLst/>
          </a:prstGeom>
          <a:noFill/>
          <a:ln w="6350">
            <a:solidFill>
              <a:srgbClr val="2522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953512" y="2926080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session has a single form definition that adapts to both overview (multi-occurrence list) and display/detail (single-occurrence) views.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11480" y="3584448"/>
            <a:ext cx="6400800" cy="658368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11480" y="3584448"/>
            <a:ext cx="54864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6072" y="36576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Fixed Positions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807208" y="3675888"/>
            <a:ext cx="0" cy="475488"/>
          </a:xfrm>
          <a:prstGeom prst="line">
            <a:avLst/>
          </a:prstGeom>
          <a:noFill/>
          <a:ln w="6350">
            <a:solidFill>
              <a:srgbClr val="25222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953512" y="3675888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fields do not occupy hard-coded pixel positions. The layout adapts dynamically based on the window size and field order — enabling responsive behaviour.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11480" y="4334256"/>
            <a:ext cx="6400800" cy="658368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11480" y="4334256"/>
            <a:ext cx="54864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76072" y="440740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Grouping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2807208" y="4425696"/>
            <a:ext cx="0" cy="475488"/>
          </a:xfrm>
          <a:prstGeom prst="line">
            <a:avLst/>
          </a:prstGeom>
          <a:noFill/>
          <a:ln w="6350">
            <a:solidFill>
              <a:srgbClr val="25222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953512" y="4425696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can be grouped together into logical sections. Groups improve readability and allow related fields to be shown/hidden or arranged as a unit.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411480" y="5084064"/>
            <a:ext cx="6400800" cy="658368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11480" y="5084064"/>
            <a:ext cx="54864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76072" y="515721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Labels and Fields are One Unit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2807208" y="5175504"/>
            <a:ext cx="0" cy="475488"/>
          </a:xfrm>
          <a:prstGeom prst="line">
            <a:avLst/>
          </a:prstGeom>
          <a:noFill/>
          <a:ln w="6350">
            <a:solidFill>
              <a:srgbClr val="25222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953512" y="5175504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field and its display label are treated as a single design element — moving a field automatically repositions its label, eliminating layout inconsistencies.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807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691640"/>
            <a:ext cx="9144000" cy="1783080"/>
          </a:xfrm>
          <a:prstGeom prst="rect">
            <a:avLst/>
          </a:prstGeom>
          <a:solidFill>
            <a:srgbClr val="141214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691640"/>
            <a:ext cx="91440" cy="17830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Shape 4"/>
          <p:cNvSpPr/>
          <p:nvPr/>
        </p:nvSpPr>
        <p:spPr>
          <a:xfrm>
            <a:off x="9052560" y="1691640"/>
            <a:ext cx="91440" cy="17830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0EA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spc="200" kern="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structure, layout sections and report script programming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0" y="4663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8A6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FullonBaan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64592"/>
            <a:ext cx="1463040" cy="256032"/>
          </a:xfrm>
          <a:prstGeom prst="rect">
            <a:avLst/>
          </a:prstGeom>
          <a:solidFill>
            <a:srgbClr val="8A6E30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0EAD6"/>
                </a:solidFill>
              </a:rPr>
              <a:t>REPORTS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EA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— Structure, Layouts and Script Sections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16152"/>
            <a:ext cx="8321040" cy="0"/>
          </a:xfrm>
          <a:prstGeom prst="line">
            <a:avLst/>
          </a:prstGeom>
          <a:noFill/>
          <a:ln w="10160">
            <a:solidFill>
              <a:srgbClr val="8A6E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C1A1E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496519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FullonBaan · Infor LN Training &amp; Consulting · www.fullonbaan.com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383280" y="4965192"/>
            <a:ext cx="5440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6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Baan ERP — Architecture &amp; Technical Concepts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11480" y="1298448"/>
            <a:ext cx="3931920" cy="3438144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298448"/>
            <a:ext cx="54864" cy="34381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3898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Layout Sections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171907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are structured around a set of named layout sections that control where and how data appears on the printed output.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2267712"/>
            <a:ext cx="3566160" cy="2340864"/>
          </a:xfrm>
          <a:prstGeom prst="rect">
            <a:avLst/>
          </a:prstGeom>
          <a:noFill/>
          <a:ln/>
        </p:spPr>
        <p:txBody>
          <a:bodyPr wrap="square" lIns="0" tIns="1905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Report — runs before any data is processed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— prints at the top of each page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Field — prints before each data group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— prints for each data record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Field — prints after each data group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 — prints at the bottom of each page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Report — runs after all data is processed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0" y="1298448"/>
            <a:ext cx="4069080" cy="3438144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298448"/>
            <a:ext cx="54864" cy="34381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3898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Script Sections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171907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 script defines the logic that runs alongside the layout. Each section corresponds to a processing phase.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267712"/>
            <a:ext cx="3657600" cy="2340864"/>
          </a:xfrm>
          <a:prstGeom prst="rect">
            <a:avLst/>
          </a:prstGeom>
          <a:noFill/>
          <a:ln/>
        </p:spPr>
        <p:txBody>
          <a:bodyPr wrap="square" lIns="0" tIns="1905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 — declare variables and domains used in the report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before.program — logic executed before data processing starts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after.program — logic executed after all data is processed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after.receive.data — runs after each record is received from the data source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&lt;Layouts&gt; — the named layout sections (Before Report, Header, Detail, etc.)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— reusable sub-routines called from other sections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453542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layout section can contain: before.layout and after.layout sub-sections for pre/post processing around the layout output.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807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691640"/>
            <a:ext cx="9144000" cy="1783080"/>
          </a:xfrm>
          <a:prstGeom prst="rect">
            <a:avLst/>
          </a:prstGeom>
          <a:solidFill>
            <a:srgbClr val="141214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691640"/>
            <a:ext cx="91440" cy="17830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Shape 4"/>
          <p:cNvSpPr/>
          <p:nvPr/>
        </p:nvSpPr>
        <p:spPr>
          <a:xfrm>
            <a:off x="9052560" y="1691640"/>
            <a:ext cx="91440" cy="17830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0EA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Scripts (4GL)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spc="200" kern="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Baan's event-driven 4GL language — sections, subsections and constructs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0" y="4663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8A6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FullonBaan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64592"/>
            <a:ext cx="2439619" cy="256032"/>
          </a:xfrm>
          <a:prstGeom prst="rect">
            <a:avLst/>
          </a:prstGeom>
          <a:solidFill>
            <a:srgbClr val="8A6E30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24396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0EAD6"/>
                </a:solidFill>
              </a:rPr>
              <a:t>PROGRAM SCRIPTS — 4GL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EA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Baan Program Scripts — Language Structure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16152"/>
            <a:ext cx="8321040" cy="0"/>
          </a:xfrm>
          <a:prstGeom prst="line">
            <a:avLst/>
          </a:prstGeom>
          <a:noFill/>
          <a:ln w="10160">
            <a:solidFill>
              <a:srgbClr val="8A6E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C1A1E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496519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FullonBaan · Infor LN Training &amp; Consulting · www.fullonbaan.com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383280" y="4965192"/>
            <a:ext cx="5440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6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Baan ERP — Architecture &amp; Technical Concepts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11480" y="1298448"/>
            <a:ext cx="3931920" cy="1353312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298448"/>
            <a:ext cx="54864" cy="13533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3898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Characteristics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1719072"/>
            <a:ext cx="3566160" cy="877824"/>
          </a:xfrm>
          <a:prstGeom prst="rect">
            <a:avLst/>
          </a:prstGeom>
          <a:noFill/>
          <a:ln/>
        </p:spPr>
        <p:txBody>
          <a:bodyPr wrap="square" lIns="0" tIns="1905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case-sensitive — uppercase or lowercase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— code runs in response to user actions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Divided into named Sections and Sub-sections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Predefined variables and functions available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SQL for all database interaction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298448"/>
            <a:ext cx="4069080" cy="1353312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298448"/>
            <a:ext cx="54864" cy="13533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3898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Script Section Types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17190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Sections Without Subsections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46320" y="1901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Sections — top-level code blocks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20665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Sections With Subsections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46320" y="2249424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Form, Group, Choice, Field, Zoom, Main Table Sections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24140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Other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46320" y="259689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 section — variable declarations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277977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Script Example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11480" y="3072384"/>
            <a:ext cx="4114800" cy="2011680"/>
          </a:xfrm>
          <a:prstGeom prst="rect">
            <a:avLst/>
          </a:prstGeom>
          <a:solidFill>
            <a:srgbClr val="080708"/>
          </a:solidFill>
          <a:ln w="7620">
            <a:solidFill>
              <a:srgbClr val="8A6E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163824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declaration: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extern domain ppoes.pris  stock.value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field.stock.value: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before.display: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stock.value = ppoes020.stck * ppoes020.pris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field.ppoes020.pris: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when.field.changes: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display("stock.value")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field.ppoes020.stck: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when.field.changes: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display("stock.value")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2779776"/>
            <a:ext cx="4069080" cy="2304288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2779776"/>
            <a:ext cx="54864" cy="23042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87121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Programming Constructs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46320" y="3163824"/>
            <a:ext cx="3657600" cy="1847088"/>
          </a:xfrm>
          <a:prstGeom prst="rect">
            <a:avLst/>
          </a:prstGeom>
          <a:solidFill>
            <a:srgbClr val="080708"/>
          </a:solidFill>
          <a:ln w="7620">
            <a:solidFill>
              <a:srgbClr val="8A6E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3255264"/>
            <a:ext cx="33832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Sequence      |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statement1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statement2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Selection     |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condition THEN ... ELSE ... ENDIF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CASE expr CASE val: ... BREAK ENDCASE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Iteration     |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i = 1 TO n DO ... ENDFOR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condition DO ... ENDWHILE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REPEAT ... UNTIL condition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807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691640"/>
            <a:ext cx="9144000" cy="1783080"/>
          </a:xfrm>
          <a:prstGeom prst="rect">
            <a:avLst/>
          </a:prstGeom>
          <a:solidFill>
            <a:srgbClr val="141214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691640"/>
            <a:ext cx="91440" cy="17830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Shape 4"/>
          <p:cNvSpPr/>
          <p:nvPr/>
        </p:nvSpPr>
        <p:spPr>
          <a:xfrm>
            <a:off x="9052560" y="1691640"/>
            <a:ext cx="91440" cy="17830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0EA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&amp; Data Access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spc="200" kern="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SQL, transactions, locking, retry points and query extensions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0" y="4663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8A6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FullonBaan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64592"/>
            <a:ext cx="1550822" cy="256032"/>
          </a:xfrm>
          <a:prstGeom prst="rect">
            <a:avLst/>
          </a:prstGeom>
          <a:solidFill>
            <a:srgbClr val="8A6E30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15508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0EAD6"/>
                </a:solidFill>
              </a:rPr>
              <a:t>EMBEDDED SQL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EA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Baan Embedded SQL — Loop Structure and Syntax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16152"/>
            <a:ext cx="8321040" cy="0"/>
          </a:xfrm>
          <a:prstGeom prst="line">
            <a:avLst/>
          </a:prstGeom>
          <a:noFill/>
          <a:ln w="10160">
            <a:solidFill>
              <a:srgbClr val="8A6E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C1A1E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496519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FullonBaan · Infor LN Training &amp; Consulting · www.fullonbaan.com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383280" y="4965192"/>
            <a:ext cx="5440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6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Baan ERP — Architecture &amp; Technical Concepts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11480" y="1298448"/>
            <a:ext cx="4297680" cy="3438144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298448"/>
            <a:ext cx="54864" cy="34381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3898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Clause Structure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1719072"/>
            <a:ext cx="3931920" cy="1627632"/>
          </a:xfrm>
          <a:prstGeom prst="rect">
            <a:avLst/>
          </a:prstGeom>
          <a:solidFill>
            <a:srgbClr val="080708"/>
          </a:solidFill>
          <a:ln w="7620">
            <a:solidFill>
              <a:srgbClr val="8A6E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1810512"/>
            <a:ext cx="365760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 &lt;field list&gt;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   &lt;table list&gt;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  &lt;condition&gt;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&lt;group fields&gt;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  &lt;group condition&gt;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&lt;fields&gt; WITH RETRY [REPEAT LAST ROW]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SPECIFICATION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HINT    &lt;hint list&gt;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4360" y="34198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Loop Structure (SELECTDO)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3749040"/>
            <a:ext cx="3931920" cy="914400"/>
          </a:xfrm>
          <a:prstGeom prst="rect">
            <a:avLst/>
          </a:prstGeom>
          <a:solidFill>
            <a:srgbClr val="080708"/>
          </a:solidFill>
          <a:ln w="7620">
            <a:solidFill>
              <a:srgbClr val="8A6E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840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...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SELECTDO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&lt;actions per record&gt;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SELECTEOS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&lt;actions after last record&gt;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SELECTEMPTY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&lt;actions if no records found&gt;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SELECTERROR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&lt;actions on error&gt;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ENDSELECT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46320" y="1298448"/>
            <a:ext cx="3886200" cy="3438144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1298448"/>
            <a:ext cx="54864" cy="34381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138988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0" y="1719072"/>
            <a:ext cx="3520440" cy="1207008"/>
          </a:xfrm>
          <a:prstGeom prst="rect">
            <a:avLst/>
          </a:prstGeom>
          <a:noFill/>
          <a:ln/>
        </p:spPr>
        <p:txBody>
          <a:bodyPr wrap="square" lIns="0" tIns="1905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transaction is a group of database changes applied as an atomic unit — all succeed or all roll back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COMMIT.TRANSACTION() — makes changes permanent, releases all locks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ABORT.TRANSACTION() — undoes all changes (rollback), releases all locks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user interaction allowed within a transaction boundary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307238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Locking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0" y="338328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1905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Lock — one record at a time; postpones physical lock (FOR UPDATE in FROM clause)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Lock — locks all records in a table (DB.LOCK.TABLE)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Lock — prevents other apps modifying data; not part of a transaction; released when app ends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before DAL.UPDATE, DAL.DESTROY, DB.UPDATE, DB.DELETE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64592"/>
            <a:ext cx="3328416" cy="256032"/>
          </a:xfrm>
          <a:prstGeom prst="rect">
            <a:avLst/>
          </a:prstGeom>
          <a:solidFill>
            <a:srgbClr val="8A6E30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0EAD6"/>
                </a:solidFill>
              </a:rPr>
              <a:t>RETRY POINT &amp; QUERY EXTENSIONS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EA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Retry Point, Query Extensions and SQL Examples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16152"/>
            <a:ext cx="8321040" cy="0"/>
          </a:xfrm>
          <a:prstGeom prst="line">
            <a:avLst/>
          </a:prstGeom>
          <a:noFill/>
          <a:ln w="10160">
            <a:solidFill>
              <a:srgbClr val="8A6E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C1A1E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496519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FullonBaan · Infor LN Training &amp; Consulting · www.fullonbaan.com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383280" y="4965192"/>
            <a:ext cx="5440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6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Baan ERP — Architecture &amp; Technical Concepts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11480" y="1298448"/>
            <a:ext cx="4114800" cy="1865376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298448"/>
            <a:ext cx="54864" cy="18653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3898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Retry Point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1719072"/>
            <a:ext cx="3657600" cy="1316736"/>
          </a:xfrm>
          <a:prstGeom prst="rect">
            <a:avLst/>
          </a:prstGeom>
          <a:noFill/>
          <a:ln/>
        </p:spPr>
        <p:txBody>
          <a:bodyPr wrap="square" lIns="0" tIns="1905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automatic re-execution of a transaction when a deadlock or conflict occurs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retry point per transaction is mandatory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DB.RETRY.POINT() — placed before any database update operations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 clause supports WITH RETRY [REPEAT LAST ROW] for safe re-reads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63440" y="1298448"/>
            <a:ext cx="4069080" cy="1865376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298448"/>
            <a:ext cx="54864" cy="18653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3898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Query Extensions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1719072"/>
            <a:ext cx="3657600" cy="1316736"/>
          </a:xfrm>
          <a:prstGeom prst="rect">
            <a:avLst/>
          </a:prstGeom>
          <a:noFill/>
          <a:ln/>
        </p:spPr>
        <p:txBody>
          <a:bodyPr wrap="square" lIns="0" tIns="1905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read fields from reference tables that are not part of the main session form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used when additional fields are needed from joined tables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query.extend.select / query.extend.from / query.extend.where functions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 in before.program or before.zoom script sections, or in DAL before.open.object.set()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32918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Examples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" y="3621024"/>
            <a:ext cx="8321040" cy="1463040"/>
          </a:xfrm>
          <a:prstGeom prst="rect">
            <a:avLst/>
          </a:prstGeom>
          <a:solidFill>
            <a:srgbClr val="080708"/>
          </a:solidFill>
          <a:ln w="7620">
            <a:solidFill>
              <a:srgbClr val="8A6E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712464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RANGE QUERY |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HYSLS401.* FROM HYSLS401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HYSLS401.ORNO BETWEEN 1020 AND 1080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COMBINED FIELD - INRANGE |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COMB INRANGE ("adv","000","100") AND ("zzz","999","200")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SUB-QUERY WITH EXISTS |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HYITEM001.* FROM HYITEM001 WHERE EXISTS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 SELECT HYSLS401.* FROM HYSLS401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 HYSLS401.ITEM = HYITEM001.ITEM AND HYSLS401.OQTY &gt; 100 )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807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691640"/>
            <a:ext cx="9144000" cy="1783080"/>
          </a:xfrm>
          <a:prstGeom prst="rect">
            <a:avLst/>
          </a:prstGeom>
          <a:solidFill>
            <a:srgbClr val="141214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691640"/>
            <a:ext cx="91440" cy="17830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Shape 4"/>
          <p:cNvSpPr/>
          <p:nvPr/>
        </p:nvSpPr>
        <p:spPr>
          <a:xfrm>
            <a:off x="9052560" y="1691640"/>
            <a:ext cx="91440" cy="17830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0EA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Access Layer (DAL)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spc="200" kern="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integrity rules, hooks and data access methods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0" y="4663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8A6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FullonBaan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64592"/>
            <a:ext cx="3130906" cy="256032"/>
          </a:xfrm>
          <a:prstGeom prst="rect">
            <a:avLst/>
          </a:prstGeom>
          <a:solidFill>
            <a:srgbClr val="8A6E30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31309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0EAD6"/>
                </a:solidFill>
              </a:rPr>
              <a:t>DATA ACCESS LAYER — OVERVIEW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EA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Access Layer (DAL) — Concepts and Terminology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16152"/>
            <a:ext cx="8321040" cy="0"/>
          </a:xfrm>
          <a:prstGeom prst="line">
            <a:avLst/>
          </a:prstGeom>
          <a:noFill/>
          <a:ln w="10160">
            <a:solidFill>
              <a:srgbClr val="8A6E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C1A1E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496519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FullonBaan · Infor LN Training &amp; Consulting · www.fullonbaan.com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383280" y="4965192"/>
            <a:ext cx="5440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6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Baan ERP — Architecture &amp; Technical Concepts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11480" y="1298448"/>
            <a:ext cx="4114800" cy="2231136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298448"/>
            <a:ext cx="54864" cy="223113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3898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 Features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1719072"/>
            <a:ext cx="3657600" cy="1682496"/>
          </a:xfrm>
          <a:prstGeom prst="rect">
            <a:avLst/>
          </a:prstGeom>
          <a:noFill/>
          <a:ln/>
        </p:spPr>
        <p:txBody>
          <a:bodyPr wrap="square" lIns="0" tIns="1905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a specific table definition — one DAL per table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logical integrity rules as code hooks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all database interaction for the associated table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name always equals the table name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in BAAN C — compiled separately from sessions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Object hooks and Property hooks for event-based validation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63440" y="1298448"/>
            <a:ext cx="4069080" cy="2231136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298448"/>
            <a:ext cx="54864" cy="223113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3898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OO Terminology Mapping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46320" y="1719072"/>
            <a:ext cx="3657600" cy="256032"/>
          </a:xfrm>
          <a:prstGeom prst="rect">
            <a:avLst/>
          </a:prstGeom>
          <a:solidFill>
            <a:srgbClr val="141214"/>
          </a:solidFill>
          <a:ln w="3810">
            <a:solidFill>
              <a:srgbClr val="2522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17190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9360" y="171907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6E30"/>
                </a:solidFill>
              </a:rPr>
              <a:t>→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01968" y="1719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Definition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2011680"/>
            <a:ext cx="3657600" cy="256032"/>
          </a:xfrm>
          <a:prstGeom prst="rect">
            <a:avLst/>
          </a:prstGeom>
          <a:solidFill>
            <a:srgbClr val="1C1A1E"/>
          </a:solidFill>
          <a:ln w="3810">
            <a:solidFill>
              <a:srgbClr val="2522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20116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20116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6E30"/>
                </a:solidFill>
              </a:rPr>
              <a:t>→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01968" y="2011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record in the table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2304288"/>
            <a:ext cx="3657600" cy="256032"/>
          </a:xfrm>
          <a:prstGeom prst="rect">
            <a:avLst/>
          </a:prstGeom>
          <a:solidFill>
            <a:srgbClr val="141214"/>
          </a:solidFill>
          <a:ln w="3810">
            <a:solidFill>
              <a:srgbClr val="25222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23042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 Set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9360" y="230428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6E30"/>
                </a:solidFill>
              </a:rPr>
              <a:t>→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01968" y="23042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table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2596896"/>
            <a:ext cx="3657600" cy="256032"/>
          </a:xfrm>
          <a:prstGeom prst="rect">
            <a:avLst/>
          </a:prstGeom>
          <a:solidFill>
            <a:srgbClr val="1C1A1E"/>
          </a:solidFill>
          <a:ln w="3810">
            <a:solidFill>
              <a:srgbClr val="25222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25968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09360" y="259689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6E30"/>
                </a:solidFill>
              </a:rPr>
              <a:t>→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601968" y="25968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field in a record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46320" y="2889504"/>
            <a:ext cx="3657600" cy="256032"/>
          </a:xfrm>
          <a:prstGeom prst="rect">
            <a:avLst/>
          </a:prstGeom>
          <a:solidFill>
            <a:srgbClr val="141214"/>
          </a:solidFill>
          <a:ln w="3810">
            <a:solidFill>
              <a:srgbClr val="25222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28895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09360" y="288950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6E30"/>
                </a:solidFill>
              </a:rPr>
              <a:t>→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601968" y="28895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operation or function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46320" y="3182112"/>
            <a:ext cx="3657600" cy="256032"/>
          </a:xfrm>
          <a:prstGeom prst="rect">
            <a:avLst/>
          </a:prstGeom>
          <a:solidFill>
            <a:srgbClr val="1C1A1E"/>
          </a:solidFill>
          <a:ln w="3810">
            <a:solidFill>
              <a:srgbClr val="25222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19472" y="3182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Hook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09360" y="318211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6E30"/>
                </a:solidFill>
              </a:rPr>
              <a:t>→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601968" y="31821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logical integrity rule implemented in DAL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11480" y="36576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 Hooks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11480" y="3968496"/>
            <a:ext cx="3931920" cy="1115568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11480" y="3968496"/>
            <a:ext cx="54864" cy="11155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6072" y="405993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 Hooks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76072" y="4352544"/>
            <a:ext cx="3566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before.open.object.set()  · after.get.object()  · before.destroy.object()  · after.destroy.object()  · before.save.object()  · after.save.object()  · before.get.object()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617720" y="3968496"/>
            <a:ext cx="3931920" cy="1115568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617720" y="3968496"/>
            <a:ext cx="54864" cy="11155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82312" y="405993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Property Hooks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782312" y="4352544"/>
            <a:ext cx="3566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&lt;fieldname&gt;.check() — fires when a specific field value is validated · Validates business rules at the field level · Returns DALHOOKERROR to reject the value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64592"/>
            <a:ext cx="3328416" cy="256032"/>
          </a:xfrm>
          <a:prstGeom prst="rect">
            <a:avLst/>
          </a:prstGeom>
          <a:solidFill>
            <a:srgbClr val="8A6E30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0EAD6"/>
                </a:solidFill>
              </a:rPr>
              <a:t>DAL HOOKS &amp; METHODS — EXAMPLES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0EA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 Hooks and Data Access Methods — Examples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261872"/>
            <a:ext cx="8321040" cy="0"/>
          </a:xfrm>
          <a:prstGeom prst="line">
            <a:avLst/>
          </a:prstGeom>
          <a:noFill/>
          <a:ln w="10160">
            <a:solidFill>
              <a:srgbClr val="8A6E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C1A1E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496519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FullonBaan · Infor LN Training &amp; Consulting · www.fullonbaan.com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383280" y="4965192"/>
            <a:ext cx="5440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6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Baan ERP — Architecture &amp; Technical Concepts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11480" y="129844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 Hook — Before Destroy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1627632"/>
            <a:ext cx="4297680" cy="1627632"/>
          </a:xfrm>
          <a:prstGeom prst="rect">
            <a:avLst/>
          </a:prstGeom>
          <a:solidFill>
            <a:srgbClr val="080708"/>
          </a:solidFill>
          <a:ln w="7620">
            <a:solidFill>
              <a:srgbClr val="8A6E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719072"/>
            <a:ext cx="402336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extern long before.destroy.object()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tdsls040.stat = tdsls.stat.invoiced then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dal.set.error.message("tdsls44041")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return(DALHOOKERROR)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endif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return(0)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3310128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deletion of an invoiced Sales Order — returns DALHOOKERROR if the status is 'invoiced'. The DAL error message is displayed to the user.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129844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Property Hook — Field Check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1627632"/>
            <a:ext cx="3886200" cy="1993392"/>
          </a:xfrm>
          <a:prstGeom prst="rect">
            <a:avLst/>
          </a:prstGeom>
          <a:solidFill>
            <a:srgbClr val="080708"/>
          </a:solidFill>
          <a:ln w="7620">
            <a:solidFill>
              <a:srgbClr val="8A6E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1719072"/>
            <a:ext cx="361188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extern long ppoes020.spri.check(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long has_changed)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ppoes020.spri &lt; ppoes020.ppri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and has_changed then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dal.set.error.message("ppoes00001")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return(DALHOOKERROR)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endif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return(0)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46320" y="3675888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that the selling price (spri) is not less than the purchase price (ppri). Fires only when the field has actually changed.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877056"/>
            <a:ext cx="8321040" cy="1115568"/>
          </a:xfrm>
          <a:prstGeom prst="rect">
            <a:avLst/>
          </a:prstGeom>
          <a:solidFill>
            <a:srgbClr val="252227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3877056"/>
            <a:ext cx="54864" cy="11155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9684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Access Methods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42793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dal.new()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" y="449884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record instance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42616" y="42793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dal.update()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42616" y="449884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changes to an existing record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90872" y="42793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dal.destroy()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90872" y="449884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 record (requires prior lock)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39128" y="42793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dal.set.property()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39128" y="449884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field value on a record programmatically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64592"/>
            <a:ext cx="2340864" cy="256032"/>
          </a:xfrm>
          <a:prstGeom prst="rect">
            <a:avLst/>
          </a:prstGeom>
          <a:solidFill>
            <a:srgbClr val="8A6E30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0EAD6"/>
                </a:solidFill>
              </a:rPr>
              <a:t>AUTHORIZATION DETAIL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EA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&amp; Table Authorization — Levels and Permissions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16152"/>
            <a:ext cx="8321040" cy="0"/>
          </a:xfrm>
          <a:prstGeom prst="line">
            <a:avLst/>
          </a:prstGeom>
          <a:noFill/>
          <a:ln w="10160">
            <a:solidFill>
              <a:srgbClr val="8A6E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C1A1E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496519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FullonBaan · Infor LN Training &amp; Consulting · www.fullonbaan.com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383280" y="4965192"/>
            <a:ext cx="5440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6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Baan ERP — Architecture &amp; Technical Concepts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11480" y="1298448"/>
            <a:ext cx="4114800" cy="3438144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298448"/>
            <a:ext cx="54864" cy="34381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3898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Authorization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170078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Levels (scope of control):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1938528"/>
            <a:ext cx="3749040" cy="804672"/>
          </a:xfrm>
          <a:prstGeom prst="rect">
            <a:avLst/>
          </a:prstGeom>
          <a:noFill/>
          <a:ln/>
        </p:spPr>
        <p:txBody>
          <a:bodyPr wrap="square" lIns="0" tIns="1905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Company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Package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Module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Session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" y="2816352"/>
            <a:ext cx="3749040" cy="0"/>
          </a:xfrm>
          <a:prstGeom prst="line">
            <a:avLst/>
          </a:prstGeom>
          <a:noFill/>
          <a:ln w="6350">
            <a:solidFill>
              <a:srgbClr val="2522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88950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Permission levels (coarsest → finest):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127248"/>
            <a:ext cx="3749040" cy="1481328"/>
          </a:xfrm>
          <a:prstGeom prst="rect">
            <a:avLst/>
          </a:prstGeom>
          <a:noFill/>
          <a:ln/>
        </p:spPr>
        <p:txBody>
          <a:bodyPr wrap="square" lIns="0" tIns="1905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Authorization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and Display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Modify, Print, Display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Insert, Modify, Print, Display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Authorization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1298448"/>
            <a:ext cx="4069080" cy="3438144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298448"/>
            <a:ext cx="54864" cy="34381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3898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Authorization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17007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Levels (scope of control):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1938528"/>
            <a:ext cx="3657600" cy="932688"/>
          </a:xfrm>
          <a:prstGeom prst="rect">
            <a:avLst/>
          </a:prstGeom>
          <a:noFill/>
          <a:ln/>
        </p:spPr>
        <p:txBody>
          <a:bodyPr wrap="square" lIns="0" tIns="1905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Company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Package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Module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Table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Data Authorization (record level)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846320" y="2944368"/>
            <a:ext cx="3657600" cy="0"/>
          </a:xfrm>
          <a:prstGeom prst="line">
            <a:avLst/>
          </a:prstGeom>
          <a:noFill/>
          <a:ln w="6350">
            <a:solidFill>
              <a:srgbClr val="25222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0175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Permission levels: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3255264"/>
            <a:ext cx="3657600" cy="987552"/>
          </a:xfrm>
          <a:prstGeom prst="rect">
            <a:avLst/>
          </a:prstGeom>
          <a:noFill/>
          <a:ln/>
        </p:spPr>
        <p:txBody>
          <a:bodyPr wrap="square" lIns="0" tIns="1905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Delete, Insert, Modify, Read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Insert, Modify, Read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Modify, Read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Authorized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846320" y="435254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Field Authorizations — control visibility/editability at individual field level, including Table Field Data Authorizations for row-level field access.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64592"/>
            <a:ext cx="3525926" cy="256032"/>
          </a:xfrm>
          <a:prstGeom prst="rect">
            <a:avLst/>
          </a:prstGeom>
          <a:solidFill>
            <a:srgbClr val="8A6E30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35259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0EAD6"/>
                </a:solidFill>
              </a:rPr>
              <a:t>WINDOW TYPES &amp; SESSION GENERATOR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EA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 Types and Session Generator Procedure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16152"/>
            <a:ext cx="8321040" cy="0"/>
          </a:xfrm>
          <a:prstGeom prst="line">
            <a:avLst/>
          </a:prstGeom>
          <a:noFill/>
          <a:ln w="10160">
            <a:solidFill>
              <a:srgbClr val="8A6E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C1A1E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496519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FullonBaan · Infor LN Training &amp; Consulting · www.fullonbaan.com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383280" y="4965192"/>
            <a:ext cx="5440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6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Baan ERP — Architecture &amp; Technical Concepts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11480" y="1298448"/>
            <a:ext cx="4114800" cy="2907792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298448"/>
            <a:ext cx="54864" cy="2907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3898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 Types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17190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List Window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19202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Multi-occurrence grid view — default for overview sessions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360" y="213969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Synchronized Dialog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234086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Single-occurrence form synchronized to a list — detail sessions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94360" y="25603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Dialog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276148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input dialog — used for print/process sessions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4360" y="298094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No Window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318211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runs without a UI — batch processing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94360" y="34015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Modal Window with Menu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360273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backward-compatible modal window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94360" y="38221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Modeless Window with Menu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402336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backward-compatible modeless window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1298448"/>
            <a:ext cx="4069080" cy="2907792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1298448"/>
            <a:ext cx="54864" cy="2907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3898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Generator — Form &amp; Script Info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0" y="1719072"/>
            <a:ext cx="3749040" cy="1426464"/>
          </a:xfrm>
          <a:prstGeom prst="rect">
            <a:avLst/>
          </a:prstGeom>
          <a:noFill/>
          <a:ln/>
        </p:spPr>
        <p:txBody>
          <a:bodyPr wrap="square" lIns="0" tIns="1905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Type (1=detail, 2=overview, etc.)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/ Rows for the form layout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Fields — which table fields appear on the form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Occurrences — how many records displayed simultaneously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Option Set — standard button set for the session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Script — linked 4GL program script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3218688"/>
            <a:ext cx="3749040" cy="0"/>
          </a:xfrm>
          <a:prstGeom prst="line">
            <a:avLst/>
          </a:prstGeom>
          <a:noFill/>
          <a:ln w="6350">
            <a:solidFill>
              <a:srgbClr val="25222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2918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Information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46320" y="3566160"/>
            <a:ext cx="3749040" cy="566928"/>
          </a:xfrm>
          <a:prstGeom prst="rect">
            <a:avLst/>
          </a:prstGeom>
          <a:noFill/>
          <a:ln/>
        </p:spPr>
        <p:txBody>
          <a:bodyPr wrap="square" lIns="0" tIns="1905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Type — output format (e.g. plain text, PDF)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Size — page dimensions and orientation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Table Fields — which fields are available to the report layout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11480" y="4315968"/>
            <a:ext cx="8321040" cy="512064"/>
          </a:xfrm>
          <a:prstGeom prst="rect">
            <a:avLst/>
          </a:prstGeom>
          <a:solidFill>
            <a:srgbClr val="252227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11480" y="4315968"/>
            <a:ext cx="54864" cy="5120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43891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Form Editor vs Static Form Editor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4360" y="43891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Dynamic: fields have no fixed positions, auto-layout, grouped fields, session+form integrated. Static (legacy): fields placed at exact screen coordinates, separate form and session design steps.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807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691640"/>
            <a:ext cx="9144000" cy="1783080"/>
          </a:xfrm>
          <a:prstGeom prst="rect">
            <a:avLst/>
          </a:prstGeom>
          <a:solidFill>
            <a:srgbClr val="141214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691640"/>
            <a:ext cx="91440" cy="17830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Shape 4"/>
          <p:cNvSpPr/>
          <p:nvPr/>
        </p:nvSpPr>
        <p:spPr>
          <a:xfrm>
            <a:off x="9052560" y="1691640"/>
            <a:ext cx="91440" cy="17830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0EA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Variables, Constants &amp; Functions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spc="200" kern="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elements — types, scope, predefined variables and functions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0" y="4663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8A6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FullonBaan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D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64592"/>
            <a:ext cx="2044598" cy="256032"/>
          </a:xfrm>
          <a:prstGeom prst="rect">
            <a:avLst/>
          </a:prstGeom>
          <a:solidFill>
            <a:srgbClr val="8A6E30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20445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0EAD6"/>
                </a:solidFill>
              </a:rPr>
              <a:t>LANGUAGE ELEMENTS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EA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Programming — Language Elements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16152"/>
            <a:ext cx="8321040" cy="0"/>
          </a:xfrm>
          <a:prstGeom prst="line">
            <a:avLst/>
          </a:prstGeom>
          <a:noFill/>
          <a:ln w="10160">
            <a:solidFill>
              <a:srgbClr val="8A6E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C1A1E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496519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FullonBaan · Infor LN Training &amp; Consulting · www.fullonbaan.com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383280" y="4965192"/>
            <a:ext cx="5440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6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Baan ERP — Architecture &amp; Technical Concepts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11480" y="1298448"/>
            <a:ext cx="2596896" cy="3438144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298448"/>
            <a:ext cx="54864" cy="34381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138988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6072" y="1719072"/>
            <a:ext cx="2322576" cy="0"/>
          </a:xfrm>
          <a:prstGeom prst="line">
            <a:avLst/>
          </a:prstGeom>
          <a:noFill/>
          <a:ln w="6350">
            <a:solidFill>
              <a:srgbClr val="2522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792224"/>
            <a:ext cx="2322576" cy="2834640"/>
          </a:xfrm>
          <a:prstGeom prst="rect">
            <a:avLst/>
          </a:prstGeom>
          <a:noFill/>
          <a:ln/>
        </p:spPr>
        <p:txBody>
          <a:bodyPr wrap="square" lIns="0" tIns="127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Mathematical:  + − * / \ &amp;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Logical:  AND  OR  NOT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Relational:  =  &lt;&gt;  &gt;  &lt;  &gt;=  &lt;=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46120" y="1298448"/>
            <a:ext cx="2596896" cy="3438144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1298448"/>
            <a:ext cx="54864" cy="34381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10712" y="138988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&amp; Constants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410712" y="1719072"/>
            <a:ext cx="2322576" cy="0"/>
          </a:xfrm>
          <a:prstGeom prst="line">
            <a:avLst/>
          </a:prstGeom>
          <a:noFill/>
          <a:ln w="6350">
            <a:solidFill>
              <a:srgbClr val="2522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1792224"/>
            <a:ext cx="2322576" cy="2834640"/>
          </a:xfrm>
          <a:prstGeom prst="rect">
            <a:avLst/>
          </a:prstGeom>
          <a:noFill/>
          <a:ln/>
        </p:spPr>
        <p:txBody>
          <a:bodyPr wrap="square" lIns="0" tIns="127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Types: Long, Double, String, Domain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Extern (global across sessions), Static (persistent), Array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Variables: Fixed-length or Non-fixed-length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Predefined Constants: True, False, PI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80760" y="1298448"/>
            <a:ext cx="2596896" cy="3438144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0760" y="1298448"/>
            <a:ext cx="54864" cy="34381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45352" y="138988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45352" y="1719072"/>
            <a:ext cx="2322576" cy="0"/>
          </a:xfrm>
          <a:prstGeom prst="line">
            <a:avLst/>
          </a:prstGeom>
          <a:noFill/>
          <a:ln w="6350">
            <a:solidFill>
              <a:srgbClr val="25222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1792224"/>
            <a:ext cx="2322576" cy="2834640"/>
          </a:xfrm>
          <a:prstGeom prst="rect">
            <a:avLst/>
          </a:prstGeom>
          <a:noFill/>
          <a:ln/>
        </p:spPr>
        <p:txBody>
          <a:bodyPr wrap="square" lIns="0" tIns="127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3GL Functions: do not interact with STP, usable in user functions and include files/libraries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4GL Functions: interact with STP, bound to specific 4GL sections, cannot be used in user functions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Defined Functions: Long, Double, String, Domain or Void return types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D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64592"/>
            <a:ext cx="3525926" cy="256032"/>
          </a:xfrm>
          <a:prstGeom prst="rect">
            <a:avLst/>
          </a:prstGeom>
          <a:solidFill>
            <a:srgbClr val="8A6E30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35259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0EAD6"/>
                </a:solidFill>
              </a:rPr>
              <a:t>PREDEFINED VARIABLES &amp; FUNCTIONS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EA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Predefined Variables and Functions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16152"/>
            <a:ext cx="8321040" cy="0"/>
          </a:xfrm>
          <a:prstGeom prst="line">
            <a:avLst/>
          </a:prstGeom>
          <a:noFill/>
          <a:ln w="10160">
            <a:solidFill>
              <a:srgbClr val="8A6E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C1A1E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496519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FullonBaan · Infor LN Training &amp; Consulting · www.fullonbaan.com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383280" y="4965192"/>
            <a:ext cx="5440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6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Baan ERP — Architecture &amp; Technical Concepts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11480" y="1298448"/>
            <a:ext cx="4114800" cy="3438144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298448"/>
            <a:ext cx="54864" cy="34381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3898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Predefined Variables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1719072"/>
            <a:ext cx="3749040" cy="329184"/>
          </a:xfrm>
          <a:prstGeom prst="rect">
            <a:avLst/>
          </a:prstGeom>
          <a:solidFill>
            <a:srgbClr val="141214"/>
          </a:solidFill>
          <a:ln w="3810">
            <a:solidFill>
              <a:srgbClr val="2522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71907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logname$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76272" y="171907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Baan user code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4360" y="2075688"/>
            <a:ext cx="3749040" cy="329184"/>
          </a:xfrm>
          <a:prstGeom prst="rect">
            <a:avLst/>
          </a:prstGeom>
          <a:solidFill>
            <a:srgbClr val="1C1A1E"/>
          </a:solidFill>
          <a:ln w="3810">
            <a:solidFill>
              <a:srgbClr val="252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07568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user.type$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76272" y="207568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type: Normal or Super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4360" y="2432304"/>
            <a:ext cx="3749040" cy="329184"/>
          </a:xfrm>
          <a:prstGeom prst="rect">
            <a:avLst/>
          </a:prstGeom>
          <a:solidFill>
            <a:srgbClr val="141214"/>
          </a:solidFill>
          <a:ln w="3810">
            <a:solidFill>
              <a:srgbClr val="2522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432304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curr.pacc$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76272" y="243230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Package Combination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4360" y="2788920"/>
            <a:ext cx="3749040" cy="329184"/>
          </a:xfrm>
          <a:prstGeom prst="rect">
            <a:avLst/>
          </a:prstGeom>
          <a:solidFill>
            <a:srgbClr val="1C1A1E"/>
          </a:solidFill>
          <a:ln w="3810">
            <a:solidFill>
              <a:srgbClr val="2522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78892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date$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76272" y="278892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system date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4360" y="3145536"/>
            <a:ext cx="3749040" cy="329184"/>
          </a:xfrm>
          <a:prstGeom prst="rect">
            <a:avLst/>
          </a:prstGeom>
          <a:solidFill>
            <a:srgbClr val="141214"/>
          </a:solidFill>
          <a:ln w="3810">
            <a:solidFill>
              <a:srgbClr val="25222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145536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language$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176272" y="314553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language code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94360" y="3502152"/>
            <a:ext cx="3749040" cy="329184"/>
          </a:xfrm>
          <a:prstGeom prst="rect">
            <a:avLst/>
          </a:prstGeom>
          <a:solidFill>
            <a:srgbClr val="1C1A1E"/>
          </a:solidFill>
          <a:ln w="3810">
            <a:solidFill>
              <a:srgbClr val="25222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50215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form.curr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176272" y="350215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form number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94360" y="3858768"/>
            <a:ext cx="3749040" cy="329184"/>
          </a:xfrm>
          <a:prstGeom prst="rect">
            <a:avLst/>
          </a:prstGeom>
          <a:solidFill>
            <a:srgbClr val="141214"/>
          </a:solidFill>
          <a:ln w="3810">
            <a:solidFill>
              <a:srgbClr val="2522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385876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auto.nextform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176272" y="385876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display next form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94360" y="4215384"/>
            <a:ext cx="3749040" cy="329184"/>
          </a:xfrm>
          <a:prstGeom prst="rect">
            <a:avLst/>
          </a:prstGeom>
          <a:solidFill>
            <a:srgbClr val="1C1A1E"/>
          </a:solidFill>
          <a:ln w="3810">
            <a:solidFill>
              <a:srgbClr val="25222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215384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update.status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176272" y="421538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 of update action being performed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63440" y="1298448"/>
            <a:ext cx="4069080" cy="3438144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63440" y="1298448"/>
            <a:ext cx="54864" cy="34381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13898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Predefined Functions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846320" y="1719072"/>
            <a:ext cx="3749040" cy="2926080"/>
          </a:xfrm>
          <a:prstGeom prst="rect">
            <a:avLst/>
          </a:prstGeom>
          <a:noFill/>
          <a:ln/>
        </p:spPr>
        <p:txBody>
          <a:bodyPr wrap="square" lIns="0" tIns="1905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date.num() / num.to.date$() / date.to.num()  — date conversion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shiftl$() / shiftr$() / shiftc$()  — string shift functions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strip$()  — remove leading/trailing spaces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dal.set.error.message()  — set DAL validation error text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ask.enum()  — prompt user to select from enumerated domain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display()  — refresh/redisplay a field on the form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dal.new() / dal.update() / dal.destroy()  — DAL data access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toupper$() / tolower$()  — string case conversion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lval() / str$()  — numeric ↔ string conversion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zoom.to$()  — navigate to a zoom session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D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64592"/>
            <a:ext cx="2538374" cy="256032"/>
          </a:xfrm>
          <a:prstGeom prst="rect">
            <a:avLst/>
          </a:prstGeom>
          <a:solidFill>
            <a:srgbClr val="8A6E30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25383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0EAD6"/>
                </a:solidFill>
              </a:rPr>
              <a:t>USER DEFINED FUNCTIONS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EA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Defined Functions and 3GL Function Types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16152"/>
            <a:ext cx="8321040" cy="0"/>
          </a:xfrm>
          <a:prstGeom prst="line">
            <a:avLst/>
          </a:prstGeom>
          <a:noFill/>
          <a:ln w="10160">
            <a:solidFill>
              <a:srgbClr val="8A6E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C1A1E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496519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FullonBaan · Infor LN Training &amp; Consulting · www.fullonbaan.com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383280" y="4965192"/>
            <a:ext cx="5440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6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Baan ERP — Architecture &amp; Technical Concepts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11480" y="12984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 Prototype Syntax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1627632"/>
            <a:ext cx="4572000" cy="2194560"/>
          </a:xfrm>
          <a:prstGeom prst="rect">
            <a:avLst/>
          </a:prstGeom>
          <a:solidFill>
            <a:srgbClr val="080708"/>
          </a:solidFill>
          <a:ln w="7620">
            <a:solidFill>
              <a:srgbClr val="8A6E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719072"/>
            <a:ext cx="4297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[ function_type ] function_name( [ arglist ] 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declaration of local variables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statement(s)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RETURN[( return_value )]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Example: void function |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add_one()            | type void - no return value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 = count + 1           | count is a global variable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120640" y="1298448"/>
            <a:ext cx="3657600" cy="1444752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120640" y="1298448"/>
            <a:ext cx="54864" cy="14447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0" y="13898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Types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0" y="1719072"/>
            <a:ext cx="3291840" cy="877824"/>
          </a:xfrm>
          <a:prstGeom prst="rect">
            <a:avLst/>
          </a:prstGeom>
          <a:noFill/>
          <a:ln/>
        </p:spPr>
        <p:txBody>
          <a:bodyPr wrap="square" lIns="0" tIns="1905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(no return value)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120640" y="2871216"/>
            <a:ext cx="3657600" cy="1865376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120640" y="2871216"/>
            <a:ext cx="54864" cy="18653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296265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3GL Function Examples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0" y="3273552"/>
            <a:ext cx="3291840" cy="1353312"/>
          </a:xfrm>
          <a:prstGeom prst="rect">
            <a:avLst/>
          </a:prstGeom>
          <a:noFill/>
          <a:ln/>
        </p:spPr>
        <p:txBody>
          <a:bodyPr wrap="square" lIns="0" tIns="1905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/ max  — return min or max of two values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lval / str$  — numeric-string conversion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strip$  — strip whitespace from string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isspace  — test if string is all whitespace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date.num() / utc.num()  — date to numeric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local.to.utc()  — timezone conversion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3913632"/>
            <a:ext cx="8321040" cy="786384"/>
          </a:xfrm>
          <a:prstGeom prst="rect">
            <a:avLst/>
          </a:prstGeom>
          <a:solidFill>
            <a:srgbClr val="252227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913632"/>
            <a:ext cx="54864" cy="78638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0050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Script (4GL) — Purpose &amp; Rules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4261104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UI script contains source code for additional session functionality. Rule: no database updates in the UI script — all DB operations go to DAL. For complex multi-table updates, use a separate DLL library.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807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691640"/>
            <a:ext cx="9144000" cy="1783080"/>
          </a:xfrm>
          <a:prstGeom prst="rect">
            <a:avLst/>
          </a:prstGeom>
          <a:solidFill>
            <a:srgbClr val="141214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691640"/>
            <a:ext cx="91440" cy="17830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Shape 4"/>
          <p:cNvSpPr/>
          <p:nvPr/>
        </p:nvSpPr>
        <p:spPr>
          <a:xfrm>
            <a:off x="9052560" y="1691640"/>
            <a:ext cx="91440" cy="17830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0EA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Event-Driven Programming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spc="200" kern="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sections, sub-sections and event handling in Baan 4GL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0" y="4663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8A6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FullonBaan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D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64592"/>
            <a:ext cx="2637130" cy="256032"/>
          </a:xfrm>
          <a:prstGeom prst="rect">
            <a:avLst/>
          </a:prstGeom>
          <a:solidFill>
            <a:srgbClr val="8A6E30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26371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0EAD6"/>
                </a:solidFill>
              </a:rPr>
              <a:t>PROGRAM &amp; FORM SECTIONS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EA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Event-Driven Programming — Program and Form Sections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16152"/>
            <a:ext cx="8321040" cy="0"/>
          </a:xfrm>
          <a:prstGeom prst="line">
            <a:avLst/>
          </a:prstGeom>
          <a:noFill/>
          <a:ln w="10160">
            <a:solidFill>
              <a:srgbClr val="8A6E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C1A1E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496519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FullonBaan · Infor LN Training &amp; Consulting · www.fullonbaan.com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383280" y="4965192"/>
            <a:ext cx="5440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6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Baan ERP — Architecture &amp; Technical Concepts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11480" y="129844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event is a preliminary action performed by the user on a form (e.g. pressing a key, clicking a button). The 4GL script reacts to events via Main Sections and Sub-sections.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1883664"/>
            <a:ext cx="4114800" cy="2852928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1883664"/>
            <a:ext cx="54864" cy="28529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9751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Section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228600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defined here execute when the session starts or ends. No sub-sections within the program section.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27432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declaration: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377440" y="27432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global variables usable across sessions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94360" y="32004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before.program: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377440" y="32004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when session starts — initialize variables, import data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4360" y="36576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after.program: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377440" y="36576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at session end (not if cancelled)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94360" y="41148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before.display.object: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377440" y="41148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before the object is displayed on the form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4360" y="4626864"/>
            <a:ext cx="3749040" cy="877824"/>
          </a:xfrm>
          <a:prstGeom prst="rect">
            <a:avLst/>
          </a:prstGeom>
          <a:solidFill>
            <a:srgbClr val="080708"/>
          </a:solidFill>
          <a:ln w="7620">
            <a:solidFill>
              <a:srgbClr val="8A6E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71830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declaration: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long x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extern domain ktoes201.st30  name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before.program: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set.synchronized.dialog("judev2150s000")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1883664"/>
            <a:ext cx="4069080" cy="2852928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1883664"/>
            <a:ext cx="54864" cy="28529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9751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Section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22860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executed when forms are activated or ended.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259689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sections: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28346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1905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form.&lt;form number&gt;  — specific form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form.all  — all forms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form.other  — any other form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846320" y="352958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Sub-sections: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46320" y="3767328"/>
            <a:ext cx="3749040" cy="640080"/>
          </a:xfrm>
          <a:prstGeom prst="rect">
            <a:avLst/>
          </a:prstGeom>
          <a:noFill/>
          <a:ln/>
        </p:spPr>
        <p:txBody>
          <a:bodyPr wrap="square" lIns="0" tIns="1905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init.form  — called once at form creation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before.form  — before the form is displayed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after.form  — after the form is closed</a:t>
            </a:r>
            <a:endParaRPr lang="en-US" sz="11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D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64592"/>
            <a:ext cx="3328416" cy="256032"/>
          </a:xfrm>
          <a:prstGeom prst="rect">
            <a:avLst/>
          </a:prstGeom>
          <a:solidFill>
            <a:srgbClr val="8A6E30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0EAD6"/>
                </a:solidFill>
              </a:rPr>
              <a:t>GROUP, CHOICE &amp; FIELD SECTIONS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EA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Group, Choice and Field Sections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16152"/>
            <a:ext cx="8321040" cy="0"/>
          </a:xfrm>
          <a:prstGeom prst="line">
            <a:avLst/>
          </a:prstGeom>
          <a:noFill/>
          <a:ln w="10160">
            <a:solidFill>
              <a:srgbClr val="8A6E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C1A1E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496519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FullonBaan · Infor LN Training &amp; Consulting · www.fullonbaan.com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383280" y="4965192"/>
            <a:ext cx="5440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6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Baan ERP — Architecture &amp; Technical Concepts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11480" y="1298448"/>
            <a:ext cx="3931920" cy="3438144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298448"/>
            <a:ext cx="54864" cy="34381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13898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Section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6072" y="170078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 when particular groups are activated or ended.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6072" y="206654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sections: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6072" y="230428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group.&lt;group number&gt;  — targets a specific form group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76072" y="25786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Sub-sections: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6072" y="281635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init.group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76072" y="305409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before.group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76072" y="329184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after.group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76072" y="3566160"/>
            <a:ext cx="3566160" cy="1097280"/>
          </a:xfrm>
          <a:prstGeom prst="rect">
            <a:avLst/>
          </a:prstGeom>
          <a:solidFill>
            <a:srgbClr val="080708"/>
          </a:solidFill>
          <a:ln w="7620">
            <a:solidFill>
              <a:srgbClr val="8A6E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36576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group.1: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init.group: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 tdsmi000.mprj = tcyesno.no ) then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disable.fields("tdsmi210.mprj.f")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enable.fields ("tdsmi210.mprj.f")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endif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17720" y="1298448"/>
            <a:ext cx="3931920" cy="3438144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17720" y="1298448"/>
            <a:ext cx="54864" cy="34381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82312" y="13898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Choice Section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82312" y="170078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actions executed when standard commands (choices) are activated.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82312" y="206654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sections: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82312" y="230428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choice.&lt;standard command&gt;  — e.g. choice.add.set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82312" y="25786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Sub-sections: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82312" y="281635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before.choice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82312" y="305409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on.choice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82312" y="329184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after.choice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82312" y="3566160"/>
            <a:ext cx="3566160" cy="1097280"/>
          </a:xfrm>
          <a:prstGeom prst="rect">
            <a:avLst/>
          </a:prstGeom>
          <a:solidFill>
            <a:srgbClr val="080708"/>
          </a:solidFill>
          <a:ln w="7620">
            <a:solidFill>
              <a:srgbClr val="8A6E3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9472" y="36576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choice.add.set: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before.choice: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message("Inserting New Record")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choice.user.1: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on.choice: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message("Executing User Specific Action")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11480" y="4828032"/>
            <a:ext cx="8321040" cy="274320"/>
          </a:xfrm>
          <a:prstGeom prst="rect">
            <a:avLst/>
          </a:prstGeom>
          <a:solidFill>
            <a:srgbClr val="252227"/>
          </a:solidFill>
          <a:ln w="9525">
            <a:solidFill>
              <a:srgbClr val="6B6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94360" y="482803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Section sub-sections: init.field · before.field · before.input · before.display · check.input · when.field.changes · after.input · after.display · after.field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807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691640"/>
            <a:ext cx="9144000" cy="1783080"/>
          </a:xfrm>
          <a:prstGeom prst="rect">
            <a:avLst/>
          </a:prstGeom>
          <a:solidFill>
            <a:srgbClr val="141214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691640"/>
            <a:ext cx="91440" cy="17830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Shape 4"/>
          <p:cNvSpPr/>
          <p:nvPr/>
        </p:nvSpPr>
        <p:spPr>
          <a:xfrm>
            <a:off x="9052560" y="1691640"/>
            <a:ext cx="91440" cy="17830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0EA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— Types, Operators &amp; Examples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spc="200" kern="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SQL, Embedded SQL, Dynamic SQL and all WHERE operators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0" y="4663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8A6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FullonBaan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D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64592"/>
            <a:ext cx="1463040" cy="256032"/>
          </a:xfrm>
          <a:prstGeom prst="rect">
            <a:avLst/>
          </a:prstGeom>
          <a:solidFill>
            <a:srgbClr val="8A6E30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0EAD6"/>
                </a:solidFill>
              </a:rPr>
              <a:t>SQL TYPES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EA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in Baan — Three Supported SQL Types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16152"/>
            <a:ext cx="8321040" cy="0"/>
          </a:xfrm>
          <a:prstGeom prst="line">
            <a:avLst/>
          </a:prstGeom>
          <a:noFill/>
          <a:ln w="10160">
            <a:solidFill>
              <a:srgbClr val="8A6E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C1A1E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496519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FullonBaan · Infor LN Training &amp; Consulting · www.fullonbaan.com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383280" y="4965192"/>
            <a:ext cx="5440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6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Baan ERP — Architecture &amp; Technical Concepts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11480" y="129844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(Structured Query Language) is the non-procedural, English-like language used to access all relational databases in Baan. Three different modes are supported: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1920240"/>
            <a:ext cx="2596896" cy="2816352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1920240"/>
            <a:ext cx="54864" cy="28163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048256"/>
            <a:ext cx="457200" cy="4572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48640" y="259689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Easy SQL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0080" y="2926080"/>
            <a:ext cx="2139696" cy="0"/>
          </a:xfrm>
          <a:prstGeom prst="line">
            <a:avLst/>
          </a:prstGeom>
          <a:noFill/>
          <a:ln w="6350">
            <a:solidFill>
              <a:srgbClr val="2522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2980944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statements are written directly and executed immediately. Output can be displayed using Reports or Charts within ION Desk or BaaN development tools.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40080" y="3584448"/>
            <a:ext cx="2139696" cy="0"/>
          </a:xfrm>
          <a:prstGeom prst="line">
            <a:avLst/>
          </a:prstGeom>
          <a:noFill/>
          <a:ln w="6350">
            <a:solidFill>
              <a:srgbClr val="2522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3657600"/>
            <a:ext cx="2322576" cy="1005840"/>
          </a:xfrm>
          <a:prstGeom prst="rect">
            <a:avLst/>
          </a:prstGeom>
          <a:noFill/>
          <a:ln/>
        </p:spPr>
        <p:txBody>
          <a:bodyPr wrap="square" lIns="0" tIns="1016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statements executed directly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displayed via Reports or Charts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 ad-hoc queries and quick data inspection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246120" y="1920240"/>
            <a:ext cx="2596896" cy="2816352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246120" y="1920240"/>
            <a:ext cx="54864" cy="28163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2048256"/>
            <a:ext cx="457200" cy="4572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383280" y="259689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Embedded SQL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3474720" y="2926080"/>
            <a:ext cx="2139696" cy="0"/>
          </a:xfrm>
          <a:prstGeom prst="line">
            <a:avLst/>
          </a:prstGeom>
          <a:noFill/>
          <a:ln w="6350">
            <a:solidFill>
              <a:srgbClr val="252227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383280" y="2980944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is embedded within Baan 4GL program scripts. A special SELECTDO loop structure is used to process each fetched record. The standard script sections handle selected, end-of-set, empty and error conditions.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3474720" y="3584448"/>
            <a:ext cx="2139696" cy="0"/>
          </a:xfrm>
          <a:prstGeom prst="line">
            <a:avLst/>
          </a:prstGeom>
          <a:noFill/>
          <a:ln w="6350">
            <a:solidFill>
              <a:srgbClr val="252227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383280" y="3657600"/>
            <a:ext cx="2322576" cy="1005840"/>
          </a:xfrm>
          <a:prstGeom prst="rect">
            <a:avLst/>
          </a:prstGeom>
          <a:noFill/>
          <a:ln/>
        </p:spPr>
        <p:txBody>
          <a:bodyPr wrap="square" lIns="0" tIns="1016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is part of the 4GL language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SELECTDO loop processes each fetched record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all result conditions: SELECTEOS, SELECTEMPTY, SELECTERROR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6080760" y="1920240"/>
            <a:ext cx="2596896" cy="2816352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080760" y="1920240"/>
            <a:ext cx="54864" cy="28163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2048256"/>
            <a:ext cx="457200" cy="45720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217920" y="259689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SQL</a:t>
            </a:r>
            <a:endParaRPr lang="en-US" sz="1300" dirty="0"/>
          </a:p>
        </p:txBody>
      </p:sp>
      <p:sp>
        <p:nvSpPr>
          <p:cNvPr id="31" name="Shape 26"/>
          <p:cNvSpPr/>
          <p:nvPr/>
        </p:nvSpPr>
        <p:spPr>
          <a:xfrm>
            <a:off x="6309360" y="2926080"/>
            <a:ext cx="2139696" cy="0"/>
          </a:xfrm>
          <a:prstGeom prst="line">
            <a:avLst/>
          </a:prstGeom>
          <a:noFill/>
          <a:ln w="6350">
            <a:solidFill>
              <a:srgbClr val="252227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217920" y="2980944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SQL query is defined once and then reused across multiple executions. Enables programs to build and execute SQL statements at runtime — useful for parameterised queries.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6309360" y="3584448"/>
            <a:ext cx="2139696" cy="0"/>
          </a:xfrm>
          <a:prstGeom prst="line">
            <a:avLst/>
          </a:prstGeom>
          <a:noFill/>
          <a:ln w="6350">
            <a:solidFill>
              <a:srgbClr val="252227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217920" y="3657600"/>
            <a:ext cx="2322576" cy="1005840"/>
          </a:xfrm>
          <a:prstGeom prst="rect">
            <a:avLst/>
          </a:prstGeom>
          <a:noFill/>
          <a:ln/>
        </p:spPr>
        <p:txBody>
          <a:bodyPr wrap="square" lIns="0" tIns="1016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defined once, reused many times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runtime construction of SQL statements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 complex parameterised or conditional queries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D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64592"/>
            <a:ext cx="2242109" cy="256032"/>
          </a:xfrm>
          <a:prstGeom prst="rect">
            <a:avLst/>
          </a:prstGeom>
          <a:solidFill>
            <a:srgbClr val="8A6E30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224210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0EAD6"/>
                </a:solidFill>
              </a:rPr>
              <a:t>SQL WHERE OPERATORS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0EA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WHERE Operators — IN, LIKE, BETWEEN/INRANGE and EXISTS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261872"/>
            <a:ext cx="8321040" cy="0"/>
          </a:xfrm>
          <a:prstGeom prst="line">
            <a:avLst/>
          </a:prstGeom>
          <a:noFill/>
          <a:ln w="10160">
            <a:solidFill>
              <a:srgbClr val="8A6E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C1A1E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496519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FullonBaan · Infor LN Training &amp; Consulting · www.fullonbaan.com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383280" y="4965192"/>
            <a:ext cx="5440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6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Baan ERP — Architecture &amp; Technical Concepts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11480" y="129844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clause syntax:  OPERAND1 OPERATOR OPERAND2 [AND OPERAND3 ...]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11480" y="1773936"/>
            <a:ext cx="3931920" cy="1444752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1773936"/>
            <a:ext cx="54864" cy="14447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18470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 Operator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6072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if a field value is in an explicit set of values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76072" y="2432304"/>
            <a:ext cx="3602736" cy="731520"/>
          </a:xfrm>
          <a:prstGeom prst="rect">
            <a:avLst/>
          </a:prstGeom>
          <a:solidFill>
            <a:srgbClr val="080708"/>
          </a:solidFill>
          <a:ln w="7620">
            <a:solidFill>
              <a:srgbClr val="8A6E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2523744"/>
            <a:ext cx="3328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HYSLS401.*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  HYSLS401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 HYSLS401.ORNO IN (1020, 1030, 1040)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17720" y="1773936"/>
            <a:ext cx="3931920" cy="1444752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1773936"/>
            <a:ext cx="54864" cy="14447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82312" y="18470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LIKE  Operator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82312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against a regular expression pattern. Case-insensitive bracketed chars: [Cc] matches both C and 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82312" y="2432304"/>
            <a:ext cx="3602736" cy="731520"/>
          </a:xfrm>
          <a:prstGeom prst="rect">
            <a:avLst/>
          </a:prstGeom>
          <a:solidFill>
            <a:srgbClr val="080708"/>
          </a:solidFill>
          <a:ln w="7620">
            <a:solidFill>
              <a:srgbClr val="8A6E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2523744"/>
            <a:ext cx="3328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HYSLS401.*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  HYSLS401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 HYSLS401.ITEM LIKE "[Cc]pu"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 matches: Cpu  AND  cpu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3364992"/>
            <a:ext cx="3931920" cy="1444752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3364992"/>
            <a:ext cx="54864" cy="14447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" y="343814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BETWEEN / INRANGE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76072" y="3694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Specifies lower and upper bounds of a range. Identical except for combined fields — INRANGE applies bounds per field; BETWEEN applies to combined field as whole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76072" y="4023360"/>
            <a:ext cx="3602736" cy="731520"/>
          </a:xfrm>
          <a:prstGeom prst="rect">
            <a:avLst/>
          </a:prstGeom>
          <a:solidFill>
            <a:srgbClr val="080708"/>
          </a:solidFill>
          <a:ln w="7620">
            <a:solidFill>
              <a:srgbClr val="8A6E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" y="4114800"/>
            <a:ext cx="3328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HYSLS401.ORNO BETWEEN 1020 AND 1080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Combined field - INRANGE per field: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COMB INRANGE ("adv","000","100") AND ("zzz","999","200")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Combined field - BETWEEN on whole: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COMB BETWEEN ("adv","000","100") AND ("zzz","999","200")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17720" y="3364992"/>
            <a:ext cx="3931920" cy="1444752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17720" y="3364992"/>
            <a:ext cx="54864" cy="14447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82312" y="343814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EXISTS  (Sub-query)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82312" y="3694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whether a correlated sub-query returns any rows. Used to filter based on existence of related records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82312" y="4023360"/>
            <a:ext cx="3602736" cy="731520"/>
          </a:xfrm>
          <a:prstGeom prst="rect">
            <a:avLst/>
          </a:prstGeom>
          <a:solidFill>
            <a:srgbClr val="080708"/>
          </a:solidFill>
          <a:ln w="7620">
            <a:solidFill>
              <a:srgbClr val="8A6E3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4114800"/>
            <a:ext cx="3328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Items with order qty &gt; 100: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HYITEM001.*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  HYITEM001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 EXISTS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 SELECT HYSLS401.*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  HYSLS401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  HYSLS401.ITEM = HYITEM001.ITEM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   HYSLS401.OQTY &gt; 100 )</a:t>
            </a:r>
            <a:endParaRPr lang="en-US" sz="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D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64592"/>
            <a:ext cx="1748333" cy="256032"/>
          </a:xfrm>
          <a:prstGeom prst="rect">
            <a:avLst/>
          </a:prstGeom>
          <a:solidFill>
            <a:srgbClr val="8A6E30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17483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0EAD6"/>
                </a:solidFill>
              </a:rPr>
              <a:t>UI DEPLOYMENTS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0EA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Baan UI Deployments — Worktop, Webtop and Process Browser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261872"/>
            <a:ext cx="8321040" cy="0"/>
          </a:xfrm>
          <a:prstGeom prst="line">
            <a:avLst/>
          </a:prstGeom>
          <a:noFill/>
          <a:ln w="10160">
            <a:solidFill>
              <a:srgbClr val="8A6E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C1A1E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496519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FullonBaan · Infor LN Training &amp; Consulting · www.fullonbaan.com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383280" y="4965192"/>
            <a:ext cx="5440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6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Baan ERP — Architecture &amp; Technical Concepts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11480" y="129844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Baan ERP supports multiple user interface deployment models to suit different user environments and access requirements.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1865376"/>
            <a:ext cx="2596896" cy="2871216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1865376"/>
            <a:ext cx="54864" cy="28712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0744" y="1993392"/>
            <a:ext cx="457200" cy="4572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48640" y="2542032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Worktop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0080" y="2871216"/>
            <a:ext cx="2139696" cy="0"/>
          </a:xfrm>
          <a:prstGeom prst="line">
            <a:avLst/>
          </a:prstGeom>
          <a:noFill/>
          <a:ln w="6350">
            <a:solidFill>
              <a:srgbClr val="2522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2926080"/>
            <a:ext cx="232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native Windows-based desktop client for Baan ERP. Provides the full set of session, form and report capabilities for power users and system administrators.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40080" y="3493008"/>
            <a:ext cx="2139696" cy="0"/>
          </a:xfrm>
          <a:prstGeom prst="line">
            <a:avLst/>
          </a:prstGeom>
          <a:noFill/>
          <a:ln w="6350">
            <a:solidFill>
              <a:srgbClr val="2522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3566160"/>
            <a:ext cx="2322576" cy="1078992"/>
          </a:xfrm>
          <a:prstGeom prst="rect">
            <a:avLst/>
          </a:prstGeom>
          <a:noFill/>
          <a:ln/>
        </p:spPr>
        <p:txBody>
          <a:bodyPr wrap="square" lIns="0" tIns="1016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native Windows client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 to all Baan sessions and tools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connection to the Baan application server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development and administration tasks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246120" y="1865376"/>
            <a:ext cx="2596896" cy="2871216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246120" y="1865376"/>
            <a:ext cx="54864" cy="28712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5384" y="1993392"/>
            <a:ext cx="457200" cy="4572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383280" y="2542032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Webtop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3474720" y="2871216"/>
            <a:ext cx="2139696" cy="0"/>
          </a:xfrm>
          <a:prstGeom prst="line">
            <a:avLst/>
          </a:prstGeom>
          <a:noFill/>
          <a:ln w="6350">
            <a:solidFill>
              <a:srgbClr val="252227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383280" y="2926080"/>
            <a:ext cx="232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browser-based interface to Baan ERP. Enables users to access Baan sessions through a standard web browser without installing the Worktop client.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3474720" y="3493008"/>
            <a:ext cx="2139696" cy="0"/>
          </a:xfrm>
          <a:prstGeom prst="line">
            <a:avLst/>
          </a:prstGeom>
          <a:noFill/>
          <a:ln w="6350">
            <a:solidFill>
              <a:srgbClr val="252227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383280" y="3566160"/>
            <a:ext cx="2322576" cy="1078992"/>
          </a:xfrm>
          <a:prstGeom prst="rect">
            <a:avLst/>
          </a:prstGeom>
          <a:noFill/>
          <a:ln/>
        </p:spPr>
        <p:txBody>
          <a:bodyPr wrap="square" lIns="0" tIns="1016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via web browser — no client installation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 of functionality compared to Worktop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 occasional users and remote access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via the Baan Web Client middleware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6080760" y="1865376"/>
            <a:ext cx="2596896" cy="2871216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080760" y="1865376"/>
            <a:ext cx="54864" cy="28712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0024" y="1993392"/>
            <a:ext cx="457200" cy="45720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217920" y="2542032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Browser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6309360" y="2871216"/>
            <a:ext cx="2139696" cy="0"/>
          </a:xfrm>
          <a:prstGeom prst="line">
            <a:avLst/>
          </a:prstGeom>
          <a:noFill/>
          <a:ln w="6350">
            <a:solidFill>
              <a:srgbClr val="252227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217920" y="2926080"/>
            <a:ext cx="232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navigation interface that presents Baan business processes as structured, step-by-step workflows. Designed for end-users who follow defined business process flows rather than navigating menus.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6309360" y="3493008"/>
            <a:ext cx="2139696" cy="0"/>
          </a:xfrm>
          <a:prstGeom prst="line">
            <a:avLst/>
          </a:prstGeom>
          <a:noFill/>
          <a:ln w="6350">
            <a:solidFill>
              <a:srgbClr val="252227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217920" y="3566160"/>
            <a:ext cx="2322576" cy="1078992"/>
          </a:xfrm>
          <a:prstGeom prst="rect">
            <a:avLst/>
          </a:prstGeom>
          <a:noFill/>
          <a:ln/>
        </p:spPr>
        <p:txBody>
          <a:bodyPr wrap="square" lIns="0" tIns="1016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Process-oriented navigation (not menu-driven)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users through predefined business process steps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training requirements for end users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process flows per role or business area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D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64592"/>
            <a:ext cx="1463040" cy="256032"/>
          </a:xfrm>
          <a:prstGeom prst="rect">
            <a:avLst/>
          </a:prstGeom>
          <a:solidFill>
            <a:srgbClr val="8A6E30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0EAD6"/>
                </a:solidFill>
              </a:rPr>
              <a:t>SUMMARY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EA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 — Overview of Baan ERP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16152"/>
            <a:ext cx="8321040" cy="0"/>
          </a:xfrm>
          <a:prstGeom prst="line">
            <a:avLst/>
          </a:prstGeom>
          <a:noFill/>
          <a:ln w="10160">
            <a:solidFill>
              <a:srgbClr val="8A6E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C1A1E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496519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FullonBaan · Infor LN Training &amp; Consulting · www.fullonbaan.com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383280" y="4965192"/>
            <a:ext cx="5440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6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Baan ERP — Architecture &amp; Technical Concepts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11480" y="1298448"/>
            <a:ext cx="3931920" cy="457200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298448"/>
            <a:ext cx="54864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134416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76072" y="15361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toolset: Foundation (security/devices/menus), Customization (forms/reports/sessions), Development (DD + 4GL)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17720" y="1298448"/>
            <a:ext cx="3931920" cy="457200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1298448"/>
            <a:ext cx="54864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2312" y="134416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 VRC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82312" y="15361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Version/Release/Customer hierarchy isolates development, customization and standard code across environments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1819656"/>
            <a:ext cx="3931920" cy="457200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1819656"/>
            <a:ext cx="54864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" y="186537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Domains &amp; Tables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6072" y="20574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 = reusable attribute pools. Tables use domains + foreign key relations + primary/secondary indices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17720" y="1819656"/>
            <a:ext cx="3931920" cy="457200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17720" y="1819656"/>
            <a:ext cx="54864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82312" y="186537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&amp; Auth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82312" y="20574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Three-step creation; Session auth (6 permission levels) and Table auth (5 levels) from No Access to Full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2340864"/>
            <a:ext cx="3931920" cy="457200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1480" y="2340864"/>
            <a:ext cx="54864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072" y="238658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76072" y="25786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functional unit — code kkmmmsfvvp000; types Maintain(1)/Process(2)/Print(4)/Display(5); 6 window types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17720" y="2340864"/>
            <a:ext cx="3931920" cy="457200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17720" y="2340864"/>
            <a:ext cx="54864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82312" y="238658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Forms &amp; Reports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82312" y="25786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Form Editor: integrated, no fixed positions, grouped fields. Reports: 7 layout sections + script sections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11480" y="2862072"/>
            <a:ext cx="3931920" cy="457200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11480" y="2862072"/>
            <a:ext cx="54864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6072" y="290779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4GL Language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76072" y="309981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Event-driven, not case-sensitive; Main Sections (Program/Form/Group/Choice/Field) + sub-sections per event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17720" y="2862072"/>
            <a:ext cx="3931920" cy="457200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17720" y="2862072"/>
            <a:ext cx="54864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82312" y="290779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&amp; Fns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82312" y="309981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Predefined vars: logname$, date$, user.type$. 3GL fns: usable anywhere. 4GL fns: bound to sections. FUNCTION keyword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11480" y="3383280"/>
            <a:ext cx="3931920" cy="457200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11480" y="3383280"/>
            <a:ext cx="54864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6072" y="34290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Types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76072" y="362102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SQL (direct execution), Embedded SQL (SELECTDO loop), Dynamic SQL (runtime reusable queries)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617720" y="3383280"/>
            <a:ext cx="3931920" cy="457200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617720" y="3383280"/>
            <a:ext cx="54864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82312" y="34290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Operators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782312" y="362102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supports: IN (set), LIKE (regex), BETWEEN/INRANGE (range), EXISTS (sub-query correlated)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11480" y="3904488"/>
            <a:ext cx="3931920" cy="457200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11480" y="3904488"/>
            <a:ext cx="54864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6072" y="395020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76072" y="414223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COMMIT.TRANSACTION() = permanent + releases locks. ABORT.TRANSACTION() = rollback + releases locks. No UI in transaction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617720" y="3904488"/>
            <a:ext cx="3931920" cy="457200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617720" y="3904488"/>
            <a:ext cx="54864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82312" y="395020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Locking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782312" y="414223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(one record, postponed), Table (DB.LOCK.TABLE), Application (explicit, not in transaction). Retry Point for auto-reexecution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11480" y="4425696"/>
            <a:ext cx="3931920" cy="457200"/>
          </a:xfrm>
          <a:prstGeom prst="rect">
            <a:avLst/>
          </a:prstGeom>
          <a:solidFill>
            <a:srgbClr val="1C1A1E"/>
          </a:solidFill>
          <a:ln w="9525">
            <a:solidFill>
              <a:srgbClr val="8A6E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11480" y="4425696"/>
            <a:ext cx="54864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76072" y="447141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76072" y="466344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 layer per table: Object hooks (before/after save/destroy) + Property hooks (field.check()) + dal.new/update/destroy methods</a:t>
            </a:r>
            <a:endParaRPr lang="en-US" sz="9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807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554480"/>
            <a:ext cx="9144000" cy="2011680"/>
          </a:xfrm>
          <a:prstGeom prst="rect">
            <a:avLst/>
          </a:prstGeom>
          <a:solidFill>
            <a:srgbClr val="141214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554480"/>
            <a:ext cx="73152" cy="20116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Shape 4"/>
          <p:cNvSpPr/>
          <p:nvPr/>
        </p:nvSpPr>
        <p:spPr>
          <a:xfrm>
            <a:off x="9070848" y="1554480"/>
            <a:ext cx="73152" cy="20116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0EA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spc="100" kern="0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 of Baan ERP — Architecture &amp; Technical Concepts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023360"/>
            <a:ext cx="9144000" cy="777240"/>
          </a:xfrm>
          <a:prstGeom prst="rect">
            <a:avLst/>
          </a:prstGeom>
          <a:solidFill>
            <a:srgbClr val="1C1A1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0690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FullonBaan  </a:t>
            </a:r>
            <a:pPr algn="ctr" indent="0" marL="0">
              <a:buNone/>
            </a:pPr>
            <a:r>
              <a:rPr lang="en-US" sz="12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Infor LN Training &amp; Consulting  ·  Bangalore, India  ·  </a:t>
            </a:r>
            <a:pPr algn="ctr" indent="0" marL="0">
              <a:buNone/>
            </a:pPr>
            <a:r>
              <a:rPr lang="en-US" sz="1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fullonbaan@gmail.com</a:t>
            </a:r>
            <a:pPr algn="ctr" indent="0" marL="0">
              <a:buNone/>
            </a:pPr>
            <a:r>
              <a:rPr lang="en-US" sz="12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+91 63605 93122  ·  </a:t>
            </a:r>
            <a:pPr algn="ctr" indent="0" marL="0">
              <a:buNone/>
            </a:pPr>
            <a:r>
              <a:rPr lang="en-US" sz="1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www.fullonbaan.com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8A6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FullonBaan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 of Baan ERP — Architecture &amp; Technical Concepts</dc:title>
  <dc:subject>PptxGenJS Presentation</dc:subject>
  <dc:creator>FullonBaan</dc:creator>
  <cp:lastModifiedBy>FullonBaan</cp:lastModifiedBy>
  <cp:revision>1</cp:revision>
  <dcterms:created xsi:type="dcterms:W3CDTF">2026-03-19T05:55:37Z</dcterms:created>
  <dcterms:modified xsi:type="dcterms:W3CDTF">2026-03-19T05:55:37Z</dcterms:modified>
</cp:coreProperties>
</file>